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Now Bold" charset="1" panose="00000800000000000000"/>
      <p:regular r:id="rId24"/>
    </p:embeddedFont>
    <p:embeddedFont>
      <p:font typeface="DM Sans Italics" charset="1" panose="00000000000000000000"/>
      <p:regular r:id="rId25"/>
    </p:embeddedFont>
    <p:embeddedFont>
      <p:font typeface="Canva Sans" charset="1" panose="020B0503030501040103"/>
      <p:regular r:id="rId26"/>
    </p:embeddedFont>
    <p:embeddedFont>
      <p:font typeface="DM Sans Bold Italics" charset="1" panose="00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notesMasters/notesMaster1.xml" Type="http://schemas.openxmlformats.org/officeDocument/2006/relationships/notesMaster"/><Relationship Id="rId29" Target="theme/theme2.xml" Type="http://schemas.openxmlformats.org/officeDocument/2006/relationships/theme"/><Relationship Id="rId3" Target="viewProps.xml" Type="http://schemas.openxmlformats.org/officeDocument/2006/relationships/viewProps"/><Relationship Id="rId30" Target="notesSlides/notesSlide1.xml" Type="http://schemas.openxmlformats.org/officeDocument/2006/relationships/notesSlide"/><Relationship Id="rId31" Target="notesSlides/notesSlide2.xml" Type="http://schemas.openxmlformats.org/officeDocument/2006/relationships/notesSlide"/><Relationship Id="rId32" Target="notesSlides/notesSlide3.xml" Type="http://schemas.openxmlformats.org/officeDocument/2006/relationships/notesSlide"/><Relationship Id="rId33" Target="notesSlides/notesSlide4.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as for any project before diving in into the practical phase you search about you will need and how can you approach it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Random Forest got 87% and 96% accuracy on these articles but the draw back Ijssem limited the dataset to personality traits and Pandey had only 800 entries in the dataset which is not enough for this type of project .</a:t>
            </a:r>
          </a:p>
          <a:p>
            <a:r>
              <a:rPr lang="en-US"/>
              <a:t/>
            </a:r>
          </a:p>
          <a:p>
            <a:r>
              <a:rPr lang="en-US"/>
              <a:t>same thing for Huber regressor in Majjate's article where the result makes hopes high for a valid model but the dataset had only 500 entries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Random Forest got 87% and 96% accuracy on these articles but the draw back Ijssem limited the dataset to personality traits and Pandey had only 800 entries in the dataset which is not enough for this type of project .</a:t>
            </a:r>
          </a:p>
          <a:p>
            <a:r>
              <a:rPr lang="en-US"/>
              <a:t/>
            </a:r>
          </a:p>
          <a:p>
            <a:r>
              <a:rPr lang="en-US"/>
              <a:t>same thing for Huber regressor in Majjate's article where the result makes hopes high for a valid model but the dataset had only 500 entries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Random Forest got 87% and 96% accuracy on these articles but the draw back Ijssem limited the dataset to personality traits and Pandey had only 800 entries in the dataset which is not enough for this type of project .</a:t>
            </a:r>
          </a:p>
          <a:p>
            <a:r>
              <a:rPr lang="en-US"/>
              <a:t/>
            </a:r>
          </a:p>
          <a:p>
            <a:r>
              <a:rPr lang="en-US"/>
              <a:t>same thing for Huber regressor in Majjate's article where the result makes hopes high for a valid model but the dataset had only 500 entries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6.png" Type="http://schemas.openxmlformats.org/officeDocument/2006/relationships/image"/><Relationship Id="rId6"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6.png" Type="http://schemas.openxmlformats.org/officeDocument/2006/relationships/image"/><Relationship Id="rId6"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6.png" Type="http://schemas.openxmlformats.org/officeDocument/2006/relationships/image"/><Relationship Id="rId6" Target="../media/image21.jpeg" Type="http://schemas.openxmlformats.org/officeDocument/2006/relationships/image"/><Relationship Id="rId7" Target="../media/VAGnVolr1bU.mp4" Type="http://schemas.openxmlformats.org/officeDocument/2006/relationships/video"/><Relationship Id="rId8" Target="../media/VAGnVolr1bU.mp4" Type="http://schemas.microsoft.com/office/2007/relationships/media"/></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6.png" Type="http://schemas.openxmlformats.org/officeDocument/2006/relationships/image"/><Relationship Id="rId6" Target="../media/image2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media/image2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16.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16.png" Type="http://schemas.openxmlformats.org/officeDocument/2006/relationships/image"/><Relationship Id="rId5" Target="../media/image2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16.png" Type="http://schemas.openxmlformats.org/officeDocument/2006/relationships/image"/><Relationship Id="rId5" Target="../media/image2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1748409">
            <a:off x="-1871927" y="7973496"/>
            <a:ext cx="6755091" cy="6130246"/>
          </a:xfrm>
          <a:custGeom>
            <a:avLst/>
            <a:gdLst/>
            <a:ahLst/>
            <a:cxnLst/>
            <a:rect r="r" b="b" t="t" l="l"/>
            <a:pathLst>
              <a:path h="6130246" w="6755091">
                <a:moveTo>
                  <a:pt x="0" y="0"/>
                </a:moveTo>
                <a:lnTo>
                  <a:pt x="6755092" y="0"/>
                </a:lnTo>
                <a:lnTo>
                  <a:pt x="6755092" y="6130246"/>
                </a:lnTo>
                <a:lnTo>
                  <a:pt x="0" y="6130246"/>
                </a:lnTo>
                <a:lnTo>
                  <a:pt x="0" y="0"/>
                </a:lnTo>
                <a:close/>
              </a:path>
            </a:pathLst>
          </a:custGeom>
          <a:blipFill>
            <a:blip r:embed="rId3"/>
            <a:stretch>
              <a:fillRect l="0" t="0" r="0" b="0"/>
            </a:stretch>
          </a:blipFill>
        </p:spPr>
      </p:sp>
      <p:sp>
        <p:nvSpPr>
          <p:cNvPr name="Freeform 4" id="4"/>
          <p:cNvSpPr/>
          <p:nvPr/>
        </p:nvSpPr>
        <p:spPr>
          <a:xfrm flipH="false" flipV="false" rot="2223819">
            <a:off x="10214960" y="-5715833"/>
            <a:ext cx="12596877" cy="11431666"/>
          </a:xfrm>
          <a:custGeom>
            <a:avLst/>
            <a:gdLst/>
            <a:ahLst/>
            <a:cxnLst/>
            <a:rect r="r" b="b" t="t" l="l"/>
            <a:pathLst>
              <a:path h="11431666" w="12596877">
                <a:moveTo>
                  <a:pt x="0" y="0"/>
                </a:moveTo>
                <a:lnTo>
                  <a:pt x="12596877" y="0"/>
                </a:lnTo>
                <a:lnTo>
                  <a:pt x="12596877" y="11431666"/>
                </a:lnTo>
                <a:lnTo>
                  <a:pt x="0" y="11431666"/>
                </a:lnTo>
                <a:lnTo>
                  <a:pt x="0" y="0"/>
                </a:lnTo>
                <a:close/>
              </a:path>
            </a:pathLst>
          </a:custGeom>
          <a:blipFill>
            <a:blip r:embed="rId3"/>
            <a:stretch>
              <a:fillRect l="0" t="0" r="0" b="0"/>
            </a:stretch>
          </a:blipFill>
        </p:spPr>
      </p:sp>
      <p:sp>
        <p:nvSpPr>
          <p:cNvPr name="TextBox 5" id="5"/>
          <p:cNvSpPr txBox="true"/>
          <p:nvPr/>
        </p:nvSpPr>
        <p:spPr>
          <a:xfrm rot="0">
            <a:off x="536975" y="3242401"/>
            <a:ext cx="10822504" cy="2264681"/>
          </a:xfrm>
          <a:prstGeom prst="rect">
            <a:avLst/>
          </a:prstGeom>
        </p:spPr>
        <p:txBody>
          <a:bodyPr anchor="t" rtlCol="false" tIns="0" lIns="0" bIns="0" rIns="0">
            <a:spAutoFit/>
          </a:bodyPr>
          <a:lstStyle/>
          <a:p>
            <a:pPr algn="l">
              <a:lnSpc>
                <a:spcPts val="18231"/>
              </a:lnSpc>
            </a:pPr>
            <a:r>
              <a:rPr lang="en-US" sz="13307" b="true">
                <a:solidFill>
                  <a:srgbClr val="B100E8"/>
                </a:solidFill>
                <a:latin typeface="Now Bold"/>
                <a:ea typeface="Now Bold"/>
                <a:cs typeface="Now Bold"/>
                <a:sym typeface="Now Bold"/>
              </a:rPr>
              <a:t>QLIK SENSE</a:t>
            </a:r>
          </a:p>
        </p:txBody>
      </p:sp>
      <p:sp>
        <p:nvSpPr>
          <p:cNvPr name="Freeform 6" id="6"/>
          <p:cNvSpPr/>
          <p:nvPr/>
        </p:nvSpPr>
        <p:spPr>
          <a:xfrm flipH="false" flipV="false" rot="0">
            <a:off x="-1351085" y="-1435399"/>
            <a:ext cx="4437185" cy="4437185"/>
          </a:xfrm>
          <a:custGeom>
            <a:avLst/>
            <a:gdLst/>
            <a:ahLst/>
            <a:cxnLst/>
            <a:rect r="r" b="b" t="t" l="l"/>
            <a:pathLst>
              <a:path h="4437185" w="4437185">
                <a:moveTo>
                  <a:pt x="0" y="0"/>
                </a:moveTo>
                <a:lnTo>
                  <a:pt x="4437185" y="0"/>
                </a:lnTo>
                <a:lnTo>
                  <a:pt x="4437185" y="4437185"/>
                </a:lnTo>
                <a:lnTo>
                  <a:pt x="0" y="4437185"/>
                </a:lnTo>
                <a:lnTo>
                  <a:pt x="0" y="0"/>
                </a:lnTo>
                <a:close/>
              </a:path>
            </a:pathLst>
          </a:custGeom>
          <a:blipFill>
            <a:blip r:embed="rId4">
              <a:alphaModFix amt="67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8194833">
            <a:off x="14482979" y="8370874"/>
            <a:ext cx="5020066" cy="5020066"/>
          </a:xfrm>
          <a:custGeom>
            <a:avLst/>
            <a:gdLst/>
            <a:ahLst/>
            <a:cxnLst/>
            <a:rect r="r" b="b" t="t" l="l"/>
            <a:pathLst>
              <a:path h="5020066" w="5020066">
                <a:moveTo>
                  <a:pt x="0" y="0"/>
                </a:moveTo>
                <a:lnTo>
                  <a:pt x="5020067" y="0"/>
                </a:lnTo>
                <a:lnTo>
                  <a:pt x="5020067" y="5020066"/>
                </a:lnTo>
                <a:lnTo>
                  <a:pt x="0" y="5020066"/>
                </a:lnTo>
                <a:lnTo>
                  <a:pt x="0" y="0"/>
                </a:lnTo>
                <a:close/>
              </a:path>
            </a:pathLst>
          </a:custGeom>
          <a:blipFill>
            <a:blip r:embed="rId4">
              <a:alphaModFix amt="67000"/>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505619" y="5755355"/>
            <a:ext cx="7827699" cy="1776410"/>
          </a:xfrm>
          <a:prstGeom prst="rect">
            <a:avLst/>
          </a:prstGeom>
        </p:spPr>
        <p:txBody>
          <a:bodyPr anchor="t" rtlCol="false" tIns="0" lIns="0" bIns="0" rIns="0">
            <a:spAutoFit/>
          </a:bodyPr>
          <a:lstStyle/>
          <a:p>
            <a:pPr algn="l">
              <a:lnSpc>
                <a:spcPts val="3583"/>
              </a:lnSpc>
            </a:pPr>
            <a:r>
              <a:rPr lang="en-US" sz="2913" i="true">
                <a:solidFill>
                  <a:srgbClr val="FFFAEB"/>
                </a:solidFill>
                <a:latin typeface="DM Sans Italics"/>
                <a:ea typeface="DM Sans Italics"/>
                <a:cs typeface="DM Sans Italics"/>
                <a:sym typeface="DM Sans Italics"/>
              </a:rPr>
              <a:t>Presented by:  OUIRRA SALAH EDDINE</a:t>
            </a:r>
          </a:p>
          <a:p>
            <a:pPr algn="l">
              <a:lnSpc>
                <a:spcPts val="3583"/>
              </a:lnSpc>
            </a:pPr>
            <a:r>
              <a:rPr lang="en-US" sz="2913" i="true">
                <a:solidFill>
                  <a:srgbClr val="FFFAEB"/>
                </a:solidFill>
                <a:latin typeface="DM Sans Italics"/>
                <a:ea typeface="DM Sans Italics"/>
                <a:cs typeface="DM Sans Italics"/>
                <a:sym typeface="DM Sans Italics"/>
              </a:rPr>
              <a:t>                         EL OTMANI CHADI OTMAN</a:t>
            </a:r>
          </a:p>
          <a:p>
            <a:pPr algn="l">
              <a:lnSpc>
                <a:spcPts val="3583"/>
              </a:lnSpc>
            </a:pPr>
            <a:r>
              <a:rPr lang="en-US" sz="2913" i="true">
                <a:solidFill>
                  <a:srgbClr val="FFFAEB"/>
                </a:solidFill>
                <a:latin typeface="DM Sans Italics"/>
                <a:ea typeface="DM Sans Italics"/>
                <a:cs typeface="DM Sans Italics"/>
                <a:sym typeface="DM Sans Italics"/>
              </a:rPr>
              <a:t>                         Aoutouf abdrahim</a:t>
            </a:r>
          </a:p>
          <a:p>
            <a:pPr algn="l" marL="0" indent="0" lvl="0">
              <a:lnSpc>
                <a:spcPts val="3583"/>
              </a:lnSpc>
              <a:spcBef>
                <a:spcPct val="0"/>
              </a:spcBef>
            </a:pPr>
            <a:r>
              <a:rPr lang="en-US" sz="2913" i="true">
                <a:solidFill>
                  <a:srgbClr val="FFFAEB"/>
                </a:solidFill>
                <a:latin typeface="DM Sans Italics"/>
                <a:ea typeface="DM Sans Italics"/>
                <a:cs typeface="DM Sans Italics"/>
                <a:sym typeface="DM Sans Italics"/>
              </a:rPr>
              <a:t>                        </a:t>
            </a:r>
          </a:p>
        </p:txBody>
      </p:sp>
      <p:sp>
        <p:nvSpPr>
          <p:cNvPr name="TextBox 9" id="9"/>
          <p:cNvSpPr txBox="true"/>
          <p:nvPr/>
        </p:nvSpPr>
        <p:spPr>
          <a:xfrm rot="0">
            <a:off x="7548386" y="9258300"/>
            <a:ext cx="7827699" cy="882655"/>
          </a:xfrm>
          <a:prstGeom prst="rect">
            <a:avLst/>
          </a:prstGeom>
        </p:spPr>
        <p:txBody>
          <a:bodyPr anchor="t" rtlCol="false" tIns="0" lIns="0" bIns="0" rIns="0">
            <a:spAutoFit/>
          </a:bodyPr>
          <a:lstStyle/>
          <a:p>
            <a:pPr algn="l">
              <a:lnSpc>
                <a:spcPts val="3583"/>
              </a:lnSpc>
            </a:pPr>
            <a:r>
              <a:rPr lang="en-US" sz="2913" i="true">
                <a:solidFill>
                  <a:srgbClr val="FFFAEB"/>
                </a:solidFill>
                <a:latin typeface="DM Sans Italics"/>
                <a:ea typeface="DM Sans Italics"/>
                <a:cs typeface="DM Sans Italics"/>
                <a:sym typeface="DM Sans Italics"/>
              </a:rPr>
              <a:t>Supervised by:  Pr. Nawal SAEL</a:t>
            </a:r>
          </a:p>
          <a:p>
            <a:pPr algn="l" marL="0" indent="0" lvl="0">
              <a:lnSpc>
                <a:spcPts val="3583"/>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38888" r="0" b="-38888"/>
            </a:stretch>
          </a:blipFill>
        </p:spPr>
      </p:sp>
      <p:grpSp>
        <p:nvGrpSpPr>
          <p:cNvPr name="Group 3" id="3"/>
          <p:cNvGrpSpPr/>
          <p:nvPr/>
        </p:nvGrpSpPr>
        <p:grpSpPr>
          <a:xfrm rot="0">
            <a:off x="-987687" y="0"/>
            <a:ext cx="6782652" cy="10287000"/>
            <a:chOff x="0" y="0"/>
            <a:chExt cx="1786377" cy="2709333"/>
          </a:xfrm>
        </p:grpSpPr>
        <p:sp>
          <p:nvSpPr>
            <p:cNvPr name="Freeform 4" id="4"/>
            <p:cNvSpPr/>
            <p:nvPr/>
          </p:nvSpPr>
          <p:spPr>
            <a:xfrm flipH="false" flipV="false" rot="0">
              <a:off x="0" y="0"/>
              <a:ext cx="1786377" cy="2709333"/>
            </a:xfrm>
            <a:custGeom>
              <a:avLst/>
              <a:gdLst/>
              <a:ahLst/>
              <a:cxnLst/>
              <a:rect r="r" b="b" t="t" l="l"/>
              <a:pathLst>
                <a:path h="2709333" w="1786377">
                  <a:moveTo>
                    <a:pt x="0" y="0"/>
                  </a:moveTo>
                  <a:lnTo>
                    <a:pt x="1786377" y="0"/>
                  </a:lnTo>
                  <a:lnTo>
                    <a:pt x="1786377" y="2709333"/>
                  </a:lnTo>
                  <a:lnTo>
                    <a:pt x="0" y="2709333"/>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5" id="5"/>
            <p:cNvSpPr txBox="true"/>
            <p:nvPr/>
          </p:nvSpPr>
          <p:spPr>
            <a:xfrm>
              <a:off x="0" y="-9525"/>
              <a:ext cx="1786377" cy="2718858"/>
            </a:xfrm>
            <a:prstGeom prst="rect">
              <a:avLst/>
            </a:prstGeom>
          </p:spPr>
          <p:txBody>
            <a:bodyPr anchor="ctr" rtlCol="false" tIns="50800" lIns="50800" bIns="50800" rIns="50800"/>
            <a:lstStyle/>
            <a:p>
              <a:pPr algn="ctr">
                <a:lnSpc>
                  <a:spcPts val="3131"/>
                </a:lnSpc>
              </a:pPr>
            </a:p>
          </p:txBody>
        </p:sp>
      </p:grpSp>
      <p:sp>
        <p:nvSpPr>
          <p:cNvPr name="Freeform 6" id="6"/>
          <p:cNvSpPr/>
          <p:nvPr/>
        </p:nvSpPr>
        <p:spPr>
          <a:xfrm flipH="false" flipV="false" rot="-1486492">
            <a:off x="15563637" y="8055643"/>
            <a:ext cx="3391326" cy="3387087"/>
          </a:xfrm>
          <a:custGeom>
            <a:avLst/>
            <a:gdLst/>
            <a:ahLst/>
            <a:cxnLst/>
            <a:rect r="r" b="b" t="t" l="l"/>
            <a:pathLst>
              <a:path h="3387087" w="3391326">
                <a:moveTo>
                  <a:pt x="0" y="0"/>
                </a:moveTo>
                <a:lnTo>
                  <a:pt x="3391326" y="0"/>
                </a:lnTo>
                <a:lnTo>
                  <a:pt x="3391326" y="3387087"/>
                </a:lnTo>
                <a:lnTo>
                  <a:pt x="0" y="3387087"/>
                </a:lnTo>
                <a:lnTo>
                  <a:pt x="0" y="0"/>
                </a:lnTo>
                <a:close/>
              </a:path>
            </a:pathLst>
          </a:custGeom>
          <a:blipFill>
            <a:blip r:embed="rId3"/>
            <a:stretch>
              <a:fillRect l="0" t="0" r="0" b="0"/>
            </a:stretch>
          </a:blipFill>
        </p:spPr>
      </p:sp>
      <p:sp>
        <p:nvSpPr>
          <p:cNvPr name="Freeform 7" id="7"/>
          <p:cNvSpPr/>
          <p:nvPr/>
        </p:nvSpPr>
        <p:spPr>
          <a:xfrm flipH="false" flipV="false" rot="1973881">
            <a:off x="12869941" y="-1899995"/>
            <a:ext cx="3391326" cy="3387087"/>
          </a:xfrm>
          <a:custGeom>
            <a:avLst/>
            <a:gdLst/>
            <a:ahLst/>
            <a:cxnLst/>
            <a:rect r="r" b="b" t="t" l="l"/>
            <a:pathLst>
              <a:path h="3387087" w="3391326">
                <a:moveTo>
                  <a:pt x="0" y="0"/>
                </a:moveTo>
                <a:lnTo>
                  <a:pt x="3391326" y="0"/>
                </a:lnTo>
                <a:lnTo>
                  <a:pt x="3391326" y="3387087"/>
                </a:lnTo>
                <a:lnTo>
                  <a:pt x="0" y="3387087"/>
                </a:lnTo>
                <a:lnTo>
                  <a:pt x="0" y="0"/>
                </a:lnTo>
                <a:close/>
              </a:path>
            </a:pathLst>
          </a:custGeom>
          <a:blipFill>
            <a:blip r:embed="rId3"/>
            <a:stretch>
              <a:fillRect l="0" t="0" r="0" b="0"/>
            </a:stretch>
          </a:blipFill>
        </p:spPr>
      </p:sp>
      <p:grpSp>
        <p:nvGrpSpPr>
          <p:cNvPr name="Group 8" id="8"/>
          <p:cNvGrpSpPr/>
          <p:nvPr/>
        </p:nvGrpSpPr>
        <p:grpSpPr>
          <a:xfrm rot="0">
            <a:off x="4878878" y="1937580"/>
            <a:ext cx="1757360" cy="175736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a:ln w="190500" cap="sq">
              <a:solidFill>
                <a:srgbClr val="04001E"/>
              </a:solidFill>
              <a:prstDash val="solid"/>
              <a:miter/>
            </a:ln>
          </p:spPr>
        </p:sp>
        <p:sp>
          <p:nvSpPr>
            <p:cNvPr name="TextBox 10" id="10"/>
            <p:cNvSpPr txBox="true"/>
            <p:nvPr/>
          </p:nvSpPr>
          <p:spPr>
            <a:xfrm>
              <a:off x="76200" y="66675"/>
              <a:ext cx="660400" cy="669925"/>
            </a:xfrm>
            <a:prstGeom prst="rect">
              <a:avLst/>
            </a:prstGeom>
          </p:spPr>
          <p:txBody>
            <a:bodyPr anchor="ctr" rtlCol="false" tIns="50800" lIns="50800" bIns="50800" rIns="50800"/>
            <a:lstStyle/>
            <a:p>
              <a:pPr algn="ctr">
                <a:lnSpc>
                  <a:spcPts val="3131"/>
                </a:lnSpc>
              </a:pPr>
            </a:p>
          </p:txBody>
        </p:sp>
      </p:grpSp>
      <p:sp>
        <p:nvSpPr>
          <p:cNvPr name="Freeform 11" id="11"/>
          <p:cNvSpPr/>
          <p:nvPr/>
        </p:nvSpPr>
        <p:spPr>
          <a:xfrm flipH="false" flipV="false" rot="0">
            <a:off x="5338720" y="2380714"/>
            <a:ext cx="783430" cy="816073"/>
          </a:xfrm>
          <a:custGeom>
            <a:avLst/>
            <a:gdLst/>
            <a:ahLst/>
            <a:cxnLst/>
            <a:rect r="r" b="b" t="t" l="l"/>
            <a:pathLst>
              <a:path h="816073" w="783430">
                <a:moveTo>
                  <a:pt x="0" y="0"/>
                </a:moveTo>
                <a:lnTo>
                  <a:pt x="783430" y="0"/>
                </a:lnTo>
                <a:lnTo>
                  <a:pt x="783430" y="816073"/>
                </a:lnTo>
                <a:lnTo>
                  <a:pt x="0" y="8160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4878878" y="4104515"/>
            <a:ext cx="1757360" cy="175736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a:ln w="190500" cap="sq">
              <a:solidFill>
                <a:srgbClr val="04001E"/>
              </a:solidFill>
              <a:prstDash val="solid"/>
              <a:miter/>
            </a:ln>
          </p:spPr>
        </p:sp>
        <p:sp>
          <p:nvSpPr>
            <p:cNvPr name="TextBox 14" id="14"/>
            <p:cNvSpPr txBox="true"/>
            <p:nvPr/>
          </p:nvSpPr>
          <p:spPr>
            <a:xfrm>
              <a:off x="76200" y="66675"/>
              <a:ext cx="660400" cy="669925"/>
            </a:xfrm>
            <a:prstGeom prst="rect">
              <a:avLst/>
            </a:prstGeom>
          </p:spPr>
          <p:txBody>
            <a:bodyPr anchor="ctr" rtlCol="false" tIns="50800" lIns="50800" bIns="50800" rIns="50800"/>
            <a:lstStyle/>
            <a:p>
              <a:pPr algn="ctr">
                <a:lnSpc>
                  <a:spcPts val="3131"/>
                </a:lnSpc>
              </a:pPr>
            </a:p>
          </p:txBody>
        </p:sp>
      </p:grpSp>
      <p:sp>
        <p:nvSpPr>
          <p:cNvPr name="Freeform 15" id="15"/>
          <p:cNvSpPr/>
          <p:nvPr/>
        </p:nvSpPr>
        <p:spPr>
          <a:xfrm flipH="false" flipV="false" rot="0">
            <a:off x="5306280" y="4542665"/>
            <a:ext cx="977370" cy="883187"/>
          </a:xfrm>
          <a:custGeom>
            <a:avLst/>
            <a:gdLst/>
            <a:ahLst/>
            <a:cxnLst/>
            <a:rect r="r" b="b" t="t" l="l"/>
            <a:pathLst>
              <a:path h="883187" w="977370">
                <a:moveTo>
                  <a:pt x="0" y="0"/>
                </a:moveTo>
                <a:lnTo>
                  <a:pt x="977371" y="0"/>
                </a:lnTo>
                <a:lnTo>
                  <a:pt x="977371" y="883187"/>
                </a:lnTo>
                <a:lnTo>
                  <a:pt x="0" y="8831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4851755" y="6094561"/>
            <a:ext cx="1757360" cy="175736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a:ln w="190500" cap="sq">
              <a:solidFill>
                <a:srgbClr val="04001E"/>
              </a:solidFill>
              <a:prstDash val="solid"/>
              <a:miter/>
            </a:ln>
          </p:spPr>
        </p:sp>
        <p:sp>
          <p:nvSpPr>
            <p:cNvPr name="TextBox 18" id="18"/>
            <p:cNvSpPr txBox="true"/>
            <p:nvPr/>
          </p:nvSpPr>
          <p:spPr>
            <a:xfrm>
              <a:off x="76200" y="66675"/>
              <a:ext cx="660400" cy="669925"/>
            </a:xfrm>
            <a:prstGeom prst="rect">
              <a:avLst/>
            </a:prstGeom>
          </p:spPr>
          <p:txBody>
            <a:bodyPr anchor="ctr" rtlCol="false" tIns="50800" lIns="50800" bIns="50800" rIns="50800"/>
            <a:lstStyle/>
            <a:p>
              <a:pPr algn="ctr">
                <a:lnSpc>
                  <a:spcPts val="3131"/>
                </a:lnSpc>
              </a:pPr>
            </a:p>
          </p:txBody>
        </p:sp>
      </p:grpSp>
      <p:sp>
        <p:nvSpPr>
          <p:cNvPr name="Freeform 19" id="19"/>
          <p:cNvSpPr/>
          <p:nvPr/>
        </p:nvSpPr>
        <p:spPr>
          <a:xfrm flipH="false" flipV="false" rot="0">
            <a:off x="5365843" y="6445541"/>
            <a:ext cx="729185" cy="1055399"/>
          </a:xfrm>
          <a:custGeom>
            <a:avLst/>
            <a:gdLst/>
            <a:ahLst/>
            <a:cxnLst/>
            <a:rect r="r" b="b" t="t" l="l"/>
            <a:pathLst>
              <a:path h="1055399" w="729185">
                <a:moveTo>
                  <a:pt x="0" y="0"/>
                </a:moveTo>
                <a:lnTo>
                  <a:pt x="729185" y="0"/>
                </a:lnTo>
                <a:lnTo>
                  <a:pt x="729185" y="1055399"/>
                </a:lnTo>
                <a:lnTo>
                  <a:pt x="0" y="10553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0" id="20"/>
          <p:cNvGrpSpPr/>
          <p:nvPr/>
        </p:nvGrpSpPr>
        <p:grpSpPr>
          <a:xfrm rot="0">
            <a:off x="4878878" y="8261495"/>
            <a:ext cx="1757360" cy="175736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a:ln w="190500" cap="sq">
              <a:solidFill>
                <a:srgbClr val="04001E"/>
              </a:solidFill>
              <a:prstDash val="solid"/>
              <a:miter/>
            </a:ln>
          </p:spPr>
        </p:sp>
        <p:sp>
          <p:nvSpPr>
            <p:cNvPr name="TextBox 22" id="22"/>
            <p:cNvSpPr txBox="true"/>
            <p:nvPr/>
          </p:nvSpPr>
          <p:spPr>
            <a:xfrm>
              <a:off x="76200" y="66675"/>
              <a:ext cx="660400" cy="669925"/>
            </a:xfrm>
            <a:prstGeom prst="rect">
              <a:avLst/>
            </a:prstGeom>
          </p:spPr>
          <p:txBody>
            <a:bodyPr anchor="ctr" rtlCol="false" tIns="50800" lIns="50800" bIns="50800" rIns="50800"/>
            <a:lstStyle/>
            <a:p>
              <a:pPr algn="ctr">
                <a:lnSpc>
                  <a:spcPts val="3131"/>
                </a:lnSpc>
              </a:pPr>
            </a:p>
          </p:txBody>
        </p:sp>
      </p:grpSp>
      <p:sp>
        <p:nvSpPr>
          <p:cNvPr name="Freeform 23" id="23"/>
          <p:cNvSpPr/>
          <p:nvPr/>
        </p:nvSpPr>
        <p:spPr>
          <a:xfrm flipH="false" flipV="false" rot="0">
            <a:off x="5365843" y="8756795"/>
            <a:ext cx="783430" cy="816073"/>
          </a:xfrm>
          <a:custGeom>
            <a:avLst/>
            <a:gdLst/>
            <a:ahLst/>
            <a:cxnLst/>
            <a:rect r="r" b="b" t="t" l="l"/>
            <a:pathLst>
              <a:path h="816073" w="783430">
                <a:moveTo>
                  <a:pt x="0" y="0"/>
                </a:moveTo>
                <a:lnTo>
                  <a:pt x="783430" y="0"/>
                </a:lnTo>
                <a:lnTo>
                  <a:pt x="783430" y="816074"/>
                </a:lnTo>
                <a:lnTo>
                  <a:pt x="0" y="8160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4" id="24"/>
          <p:cNvSpPr txBox="true"/>
          <p:nvPr/>
        </p:nvSpPr>
        <p:spPr>
          <a:xfrm rot="0">
            <a:off x="6171003" y="403584"/>
            <a:ext cx="5339762" cy="1126408"/>
          </a:xfrm>
          <a:prstGeom prst="rect">
            <a:avLst/>
          </a:prstGeom>
        </p:spPr>
        <p:txBody>
          <a:bodyPr anchor="t" rtlCol="false" tIns="0" lIns="0" bIns="0" rIns="0">
            <a:spAutoFit/>
          </a:bodyPr>
          <a:lstStyle/>
          <a:p>
            <a:pPr algn="l" marL="0" indent="0" lvl="0">
              <a:lnSpc>
                <a:spcPts val="9119"/>
              </a:lnSpc>
              <a:spcBef>
                <a:spcPct val="0"/>
              </a:spcBef>
            </a:pPr>
            <a:r>
              <a:rPr lang="en-US" b="true" sz="6560">
                <a:solidFill>
                  <a:srgbClr val="048AFF"/>
                </a:solidFill>
                <a:latin typeface="Now Bold"/>
                <a:ea typeface="Now Bold"/>
                <a:cs typeface="Now Bold"/>
                <a:sym typeface="Now Bold"/>
              </a:rPr>
              <a:t>Plan</a:t>
            </a:r>
          </a:p>
        </p:txBody>
      </p:sp>
      <p:sp>
        <p:nvSpPr>
          <p:cNvPr name="TextBox 25" id="25"/>
          <p:cNvSpPr txBox="true"/>
          <p:nvPr/>
        </p:nvSpPr>
        <p:spPr>
          <a:xfrm rot="0">
            <a:off x="6874092" y="2490702"/>
            <a:ext cx="5849361" cy="590792"/>
          </a:xfrm>
          <a:prstGeom prst="rect">
            <a:avLst/>
          </a:prstGeom>
        </p:spPr>
        <p:txBody>
          <a:bodyPr anchor="t" rtlCol="false" tIns="0" lIns="0" bIns="0" rIns="0">
            <a:spAutoFit/>
          </a:bodyPr>
          <a:lstStyle/>
          <a:p>
            <a:pPr algn="l">
              <a:lnSpc>
                <a:spcPts val="4741"/>
              </a:lnSpc>
            </a:pPr>
            <a:r>
              <a:rPr lang="en-US" sz="3411" b="true">
                <a:solidFill>
                  <a:srgbClr val="B100E8"/>
                </a:solidFill>
                <a:latin typeface="Now Bold"/>
                <a:ea typeface="Now Bold"/>
                <a:cs typeface="Now Bold"/>
                <a:sym typeface="Now Bold"/>
              </a:rPr>
              <a:t>Overview </a:t>
            </a:r>
          </a:p>
        </p:txBody>
      </p:sp>
      <p:sp>
        <p:nvSpPr>
          <p:cNvPr name="TextBox 26" id="26"/>
          <p:cNvSpPr txBox="true"/>
          <p:nvPr/>
        </p:nvSpPr>
        <p:spPr>
          <a:xfrm rot="0">
            <a:off x="6788638" y="6626283"/>
            <a:ext cx="4330898" cy="617716"/>
          </a:xfrm>
          <a:prstGeom prst="rect">
            <a:avLst/>
          </a:prstGeom>
        </p:spPr>
        <p:txBody>
          <a:bodyPr anchor="t" rtlCol="false" tIns="0" lIns="0" bIns="0" rIns="0">
            <a:spAutoFit/>
          </a:bodyPr>
          <a:lstStyle/>
          <a:p>
            <a:pPr algn="l">
              <a:lnSpc>
                <a:spcPts val="5019"/>
              </a:lnSpc>
            </a:pPr>
            <a:r>
              <a:rPr lang="en-US" sz="3611" b="true">
                <a:solidFill>
                  <a:srgbClr val="B100E8"/>
                </a:solidFill>
                <a:latin typeface="Now Bold"/>
                <a:ea typeface="Now Bold"/>
                <a:cs typeface="Now Bold"/>
                <a:sym typeface="Now Bold"/>
              </a:rPr>
              <a:t>Qlik sense versions</a:t>
            </a:r>
          </a:p>
        </p:txBody>
      </p:sp>
      <p:sp>
        <p:nvSpPr>
          <p:cNvPr name="TextBox 27" id="27"/>
          <p:cNvSpPr txBox="true"/>
          <p:nvPr/>
        </p:nvSpPr>
        <p:spPr>
          <a:xfrm rot="0">
            <a:off x="6788638" y="8790604"/>
            <a:ext cx="2227659" cy="617716"/>
          </a:xfrm>
          <a:prstGeom prst="rect">
            <a:avLst/>
          </a:prstGeom>
        </p:spPr>
        <p:txBody>
          <a:bodyPr anchor="t" rtlCol="false" tIns="0" lIns="0" bIns="0" rIns="0">
            <a:spAutoFit/>
          </a:bodyPr>
          <a:lstStyle/>
          <a:p>
            <a:pPr algn="l">
              <a:lnSpc>
                <a:spcPts val="5019"/>
              </a:lnSpc>
            </a:pPr>
            <a:r>
              <a:rPr lang="en-US" sz="3611" b="true">
                <a:solidFill>
                  <a:srgbClr val="B100E8"/>
                </a:solidFill>
                <a:latin typeface="Now Bold"/>
                <a:ea typeface="Now Bold"/>
                <a:cs typeface="Now Bold"/>
                <a:sym typeface="Now Bold"/>
              </a:rPr>
              <a:t>workshop</a:t>
            </a:r>
          </a:p>
        </p:txBody>
      </p:sp>
      <p:sp>
        <p:nvSpPr>
          <p:cNvPr name="TextBox 28" id="28"/>
          <p:cNvSpPr txBox="true"/>
          <p:nvPr/>
        </p:nvSpPr>
        <p:spPr>
          <a:xfrm rot="0">
            <a:off x="6874092" y="4637301"/>
            <a:ext cx="2887563" cy="617716"/>
          </a:xfrm>
          <a:prstGeom prst="rect">
            <a:avLst/>
          </a:prstGeom>
        </p:spPr>
        <p:txBody>
          <a:bodyPr anchor="t" rtlCol="false" tIns="0" lIns="0" bIns="0" rIns="0">
            <a:spAutoFit/>
          </a:bodyPr>
          <a:lstStyle/>
          <a:p>
            <a:pPr algn="l">
              <a:lnSpc>
                <a:spcPts val="5019"/>
              </a:lnSpc>
            </a:pPr>
            <a:r>
              <a:rPr lang="en-US" sz="3611" b="true">
                <a:solidFill>
                  <a:srgbClr val="B100E8"/>
                </a:solidFill>
                <a:latin typeface="Now Bold"/>
                <a:ea typeface="Now Bold"/>
                <a:cs typeface="Now Bold"/>
                <a:sym typeface="Now Bold"/>
              </a:rPr>
              <a:t> Advantages</a:t>
            </a:r>
          </a:p>
        </p:txBody>
      </p:sp>
      <p:sp>
        <p:nvSpPr>
          <p:cNvPr name="TextBox 29" id="2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38888" r="0" b="-38888"/>
            </a:stretch>
          </a:blipFill>
        </p:spPr>
      </p:sp>
      <p:sp>
        <p:nvSpPr>
          <p:cNvPr name="Freeform 3" id="3"/>
          <p:cNvSpPr/>
          <p:nvPr/>
        </p:nvSpPr>
        <p:spPr>
          <a:xfrm flipH="false" flipV="false" rot="0">
            <a:off x="15789970" y="7909420"/>
            <a:ext cx="1469330" cy="1421243"/>
          </a:xfrm>
          <a:custGeom>
            <a:avLst/>
            <a:gdLst/>
            <a:ahLst/>
            <a:cxnLst/>
            <a:rect r="r" b="b" t="t" l="l"/>
            <a:pathLst>
              <a:path h="1421243" w="1469330">
                <a:moveTo>
                  <a:pt x="0" y="0"/>
                </a:moveTo>
                <a:lnTo>
                  <a:pt x="1469330" y="0"/>
                </a:lnTo>
                <a:lnTo>
                  <a:pt x="1469330" y="1421243"/>
                </a:lnTo>
                <a:lnTo>
                  <a:pt x="0" y="14212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633252" y="3858897"/>
            <a:ext cx="17021496" cy="2203436"/>
          </a:xfrm>
          <a:prstGeom prst="rect">
            <a:avLst/>
          </a:prstGeom>
        </p:spPr>
        <p:txBody>
          <a:bodyPr anchor="t" rtlCol="false" tIns="0" lIns="0" bIns="0" rIns="0">
            <a:spAutoFit/>
          </a:bodyPr>
          <a:lstStyle/>
          <a:p>
            <a:pPr algn="l" marL="764694" indent="-382347" lvl="1">
              <a:lnSpc>
                <a:spcPts val="5950"/>
              </a:lnSpc>
              <a:buFont typeface="Arial"/>
              <a:buChar char="•"/>
            </a:pPr>
            <a:r>
              <a:rPr lang="en-US" b="true" sz="3541" i="true">
                <a:solidFill>
                  <a:srgbClr val="FFFFFF"/>
                </a:solidFill>
                <a:latin typeface="DM Sans Bold Italics"/>
                <a:ea typeface="DM Sans Bold Italics"/>
                <a:cs typeface="DM Sans Bold Italics"/>
                <a:sym typeface="DM Sans Bold Italics"/>
              </a:rPr>
              <a:t>QlikSense is Qlik’s next-generation application forself-service oriented visual analytics, offering unique and powerful data visualization, exploration, and collaboration capabilities forall types ofusers</a:t>
            </a:r>
          </a:p>
        </p:txBody>
      </p:sp>
      <p:sp>
        <p:nvSpPr>
          <p:cNvPr name="Freeform 5" id="5"/>
          <p:cNvSpPr/>
          <p:nvPr/>
        </p:nvSpPr>
        <p:spPr>
          <a:xfrm flipH="false" flipV="false" rot="0">
            <a:off x="11981660" y="6236916"/>
            <a:ext cx="2859663" cy="3854938"/>
          </a:xfrm>
          <a:custGeom>
            <a:avLst/>
            <a:gdLst/>
            <a:ahLst/>
            <a:cxnLst/>
            <a:rect r="r" b="b" t="t" l="l"/>
            <a:pathLst>
              <a:path h="3854938" w="2859663">
                <a:moveTo>
                  <a:pt x="0" y="0"/>
                </a:moveTo>
                <a:lnTo>
                  <a:pt x="2859663" y="0"/>
                </a:lnTo>
                <a:lnTo>
                  <a:pt x="2859663" y="3854938"/>
                </a:lnTo>
                <a:lnTo>
                  <a:pt x="0" y="385493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38888" r="0" b="-38888"/>
            </a:stretch>
          </a:blipFill>
        </p:spPr>
      </p:sp>
      <p:sp>
        <p:nvSpPr>
          <p:cNvPr name="Freeform 3" id="3"/>
          <p:cNvSpPr/>
          <p:nvPr/>
        </p:nvSpPr>
        <p:spPr>
          <a:xfrm flipH="false" flipV="false" rot="0">
            <a:off x="15789970" y="7909420"/>
            <a:ext cx="1469330" cy="1421243"/>
          </a:xfrm>
          <a:custGeom>
            <a:avLst/>
            <a:gdLst/>
            <a:ahLst/>
            <a:cxnLst/>
            <a:rect r="r" b="b" t="t" l="l"/>
            <a:pathLst>
              <a:path h="1421243" w="1469330">
                <a:moveTo>
                  <a:pt x="0" y="0"/>
                </a:moveTo>
                <a:lnTo>
                  <a:pt x="1469330" y="0"/>
                </a:lnTo>
                <a:lnTo>
                  <a:pt x="1469330" y="1421243"/>
                </a:lnTo>
                <a:lnTo>
                  <a:pt x="0" y="14212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205198" y="4305628"/>
            <a:ext cx="13877604" cy="1513820"/>
          </a:xfrm>
          <a:prstGeom prst="rect">
            <a:avLst/>
          </a:prstGeom>
        </p:spPr>
        <p:txBody>
          <a:bodyPr anchor="t" rtlCol="false" tIns="0" lIns="0" bIns="0" rIns="0">
            <a:spAutoFit/>
          </a:bodyPr>
          <a:lstStyle/>
          <a:p>
            <a:pPr algn="ctr">
              <a:lnSpc>
                <a:spcPts val="12291"/>
              </a:lnSpc>
            </a:pPr>
            <a:r>
              <a:rPr lang="en-US" sz="8842" b="true">
                <a:solidFill>
                  <a:srgbClr val="048AFF"/>
                </a:solidFill>
                <a:latin typeface="Now Bold"/>
                <a:ea typeface="Now Bold"/>
                <a:cs typeface="Now Bold"/>
                <a:sym typeface="Now Bold"/>
              </a:rPr>
              <a:t>Overview </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8AFF"/>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3"/>
            <a:stretch>
              <a:fillRect l="0" t="-38888" r="0" b="-38888"/>
            </a:stretch>
          </a:blipFill>
        </p:spPr>
      </p:sp>
      <p:sp>
        <p:nvSpPr>
          <p:cNvPr name="Freeform 3" id="3"/>
          <p:cNvSpPr/>
          <p:nvPr/>
        </p:nvSpPr>
        <p:spPr>
          <a:xfrm flipH="false" flipV="false" rot="0">
            <a:off x="12438410" y="-5076387"/>
            <a:ext cx="9641780" cy="9629727"/>
          </a:xfrm>
          <a:custGeom>
            <a:avLst/>
            <a:gdLst/>
            <a:ahLst/>
            <a:cxnLst/>
            <a:rect r="r" b="b" t="t" l="l"/>
            <a:pathLst>
              <a:path h="9629727" w="9641780">
                <a:moveTo>
                  <a:pt x="0" y="0"/>
                </a:moveTo>
                <a:lnTo>
                  <a:pt x="9641780" y="0"/>
                </a:lnTo>
                <a:lnTo>
                  <a:pt x="9641780" y="9629728"/>
                </a:lnTo>
                <a:lnTo>
                  <a:pt x="0" y="9629728"/>
                </a:lnTo>
                <a:lnTo>
                  <a:pt x="0" y="0"/>
                </a:lnTo>
                <a:close/>
              </a:path>
            </a:pathLst>
          </a:custGeom>
          <a:blipFill>
            <a:blip r:embed="rId4"/>
            <a:stretch>
              <a:fillRect l="0" t="0" r="0" b="0"/>
            </a:stretch>
          </a:blipFill>
        </p:spPr>
      </p:sp>
      <p:sp>
        <p:nvSpPr>
          <p:cNvPr name="Freeform 4" id="4"/>
          <p:cNvSpPr/>
          <p:nvPr/>
        </p:nvSpPr>
        <p:spPr>
          <a:xfrm flipH="false" flipV="false" rot="0">
            <a:off x="-4327715" y="6542790"/>
            <a:ext cx="9641780" cy="9629727"/>
          </a:xfrm>
          <a:custGeom>
            <a:avLst/>
            <a:gdLst/>
            <a:ahLst/>
            <a:cxnLst/>
            <a:rect r="r" b="b" t="t" l="l"/>
            <a:pathLst>
              <a:path h="9629727" w="9641780">
                <a:moveTo>
                  <a:pt x="0" y="0"/>
                </a:moveTo>
                <a:lnTo>
                  <a:pt x="9641780" y="0"/>
                </a:lnTo>
                <a:lnTo>
                  <a:pt x="9641780" y="9629727"/>
                </a:lnTo>
                <a:lnTo>
                  <a:pt x="0" y="9629727"/>
                </a:lnTo>
                <a:lnTo>
                  <a:pt x="0" y="0"/>
                </a:lnTo>
                <a:close/>
              </a:path>
            </a:pathLst>
          </a:custGeom>
          <a:blipFill>
            <a:blip r:embed="rId4"/>
            <a:stretch>
              <a:fillRect l="0" t="0" r="0" b="0"/>
            </a:stretch>
          </a:blipFill>
        </p:spPr>
      </p:sp>
      <p:sp>
        <p:nvSpPr>
          <p:cNvPr name="Freeform 5" id="5"/>
          <p:cNvSpPr/>
          <p:nvPr/>
        </p:nvSpPr>
        <p:spPr>
          <a:xfrm flipH="false" flipV="false" rot="0">
            <a:off x="1562557" y="3333426"/>
            <a:ext cx="15696743" cy="4552056"/>
          </a:xfrm>
          <a:custGeom>
            <a:avLst/>
            <a:gdLst/>
            <a:ahLst/>
            <a:cxnLst/>
            <a:rect r="r" b="b" t="t" l="l"/>
            <a:pathLst>
              <a:path h="4552056" w="15696743">
                <a:moveTo>
                  <a:pt x="0" y="0"/>
                </a:moveTo>
                <a:lnTo>
                  <a:pt x="15696743" y="0"/>
                </a:lnTo>
                <a:lnTo>
                  <a:pt x="15696743" y="4552056"/>
                </a:lnTo>
                <a:lnTo>
                  <a:pt x="0" y="4552056"/>
                </a:lnTo>
                <a:lnTo>
                  <a:pt x="0" y="0"/>
                </a:lnTo>
                <a:close/>
              </a:path>
            </a:pathLst>
          </a:custGeom>
          <a:blipFill>
            <a:blip r:embed="rId5"/>
            <a:stretch>
              <a:fillRect l="0" t="0" r="0" b="0"/>
            </a:stretch>
          </a:blipFill>
        </p:spPr>
      </p:sp>
      <p:sp>
        <p:nvSpPr>
          <p:cNvPr name="TextBox 6" id="6"/>
          <p:cNvSpPr txBox="true"/>
          <p:nvPr/>
        </p:nvSpPr>
        <p:spPr>
          <a:xfrm rot="0">
            <a:off x="1173035" y="397406"/>
            <a:ext cx="11265375" cy="3189241"/>
          </a:xfrm>
          <a:prstGeom prst="rect">
            <a:avLst/>
          </a:prstGeom>
        </p:spPr>
        <p:txBody>
          <a:bodyPr anchor="t" rtlCol="false" tIns="0" lIns="0" bIns="0" rIns="0">
            <a:spAutoFit/>
          </a:bodyPr>
          <a:lstStyle/>
          <a:p>
            <a:pPr algn="ctr">
              <a:lnSpc>
                <a:spcPts val="8428"/>
              </a:lnSpc>
            </a:pPr>
            <a:r>
              <a:rPr lang="en-US" sz="6063" b="true">
                <a:solidFill>
                  <a:srgbClr val="048AFF"/>
                </a:solidFill>
                <a:latin typeface="Now Bold"/>
                <a:ea typeface="Now Bold"/>
                <a:cs typeface="Now Bold"/>
                <a:sym typeface="Now Bold"/>
              </a:rPr>
              <a:t>Three fundamental forces impact the use of BI and Analytics</a:t>
            </a:r>
          </a:p>
        </p:txBody>
      </p:sp>
      <p:sp>
        <p:nvSpPr>
          <p:cNvPr name="TextBox 7" id="7"/>
          <p:cNvSpPr txBox="true"/>
          <p:nvPr/>
        </p:nvSpPr>
        <p:spPr>
          <a:xfrm rot="0">
            <a:off x="493175" y="8464980"/>
            <a:ext cx="5394072" cy="1526944"/>
          </a:xfrm>
          <a:prstGeom prst="rect">
            <a:avLst/>
          </a:prstGeom>
        </p:spPr>
        <p:txBody>
          <a:bodyPr anchor="t" rtlCol="false" tIns="0" lIns="0" bIns="0" rIns="0">
            <a:spAutoFit/>
          </a:bodyPr>
          <a:lstStyle/>
          <a:p>
            <a:pPr algn="ctr">
              <a:lnSpc>
                <a:spcPts val="4035"/>
              </a:lnSpc>
            </a:pPr>
            <a:r>
              <a:rPr lang="en-US" sz="2903" b="true">
                <a:solidFill>
                  <a:srgbClr val="FFFFFF"/>
                </a:solidFill>
                <a:latin typeface="Now Bold"/>
                <a:ea typeface="Now Bold"/>
                <a:cs typeface="Now Bold"/>
                <a:sym typeface="Now Bold"/>
              </a:rPr>
              <a:t> Anexplosion of data andcontent</a:t>
            </a:r>
          </a:p>
          <a:p>
            <a:pPr algn="ctr">
              <a:lnSpc>
                <a:spcPts val="4035"/>
              </a:lnSpc>
            </a:pPr>
          </a:p>
        </p:txBody>
      </p:sp>
      <p:sp>
        <p:nvSpPr>
          <p:cNvPr name="TextBox 8" id="8"/>
          <p:cNvSpPr txBox="true"/>
          <p:nvPr/>
        </p:nvSpPr>
        <p:spPr>
          <a:xfrm rot="0">
            <a:off x="6805723" y="8466253"/>
            <a:ext cx="5394072" cy="1526944"/>
          </a:xfrm>
          <a:prstGeom prst="rect">
            <a:avLst/>
          </a:prstGeom>
        </p:spPr>
        <p:txBody>
          <a:bodyPr anchor="t" rtlCol="false" tIns="0" lIns="0" bIns="0" rIns="0">
            <a:spAutoFit/>
          </a:bodyPr>
          <a:lstStyle/>
          <a:p>
            <a:pPr algn="ctr">
              <a:lnSpc>
                <a:spcPts val="4035"/>
              </a:lnSpc>
            </a:pPr>
            <a:r>
              <a:rPr lang="en-US" sz="2903" b="true">
                <a:solidFill>
                  <a:srgbClr val="FFFFFF"/>
                </a:solidFill>
                <a:latin typeface="Now Bold"/>
                <a:ea typeface="Now Bold"/>
                <a:cs typeface="Now Bold"/>
                <a:sym typeface="Now Bold"/>
              </a:rPr>
              <a:t> Anexplosion in computing power</a:t>
            </a:r>
          </a:p>
          <a:p>
            <a:pPr algn="ctr">
              <a:lnSpc>
                <a:spcPts val="4035"/>
              </a:lnSpc>
            </a:pPr>
          </a:p>
        </p:txBody>
      </p:sp>
      <p:sp>
        <p:nvSpPr>
          <p:cNvPr name="TextBox 9" id="9"/>
          <p:cNvSpPr txBox="true"/>
          <p:nvPr/>
        </p:nvSpPr>
        <p:spPr>
          <a:xfrm rot="0">
            <a:off x="13118270" y="8467525"/>
            <a:ext cx="5394072" cy="1526944"/>
          </a:xfrm>
          <a:prstGeom prst="rect">
            <a:avLst/>
          </a:prstGeom>
        </p:spPr>
        <p:txBody>
          <a:bodyPr anchor="t" rtlCol="false" tIns="0" lIns="0" bIns="0" rIns="0">
            <a:spAutoFit/>
          </a:bodyPr>
          <a:lstStyle/>
          <a:p>
            <a:pPr algn="ctr">
              <a:lnSpc>
                <a:spcPts val="4035"/>
              </a:lnSpc>
            </a:pPr>
            <a:r>
              <a:rPr lang="en-US" sz="2903" b="true">
                <a:solidFill>
                  <a:srgbClr val="FFFFFF"/>
                </a:solidFill>
                <a:latin typeface="Now Bold"/>
                <a:ea typeface="Now Bold"/>
                <a:cs typeface="Now Bold"/>
                <a:sym typeface="Now Bold"/>
              </a:rPr>
              <a:t> Arise ofthe information activist</a:t>
            </a:r>
          </a:p>
          <a:p>
            <a:pPr algn="ctr">
              <a:lnSpc>
                <a:spcPts val="4035"/>
              </a:lnSpc>
            </a:pPr>
          </a:p>
        </p:txBody>
      </p:sp>
      <p:sp>
        <p:nvSpPr>
          <p:cNvPr name="Freeform 10" id="10"/>
          <p:cNvSpPr/>
          <p:nvPr/>
        </p:nvSpPr>
        <p:spPr>
          <a:xfrm flipH="false" flipV="false" rot="0">
            <a:off x="12590810" y="-4923987"/>
            <a:ext cx="9641780" cy="9629727"/>
          </a:xfrm>
          <a:custGeom>
            <a:avLst/>
            <a:gdLst/>
            <a:ahLst/>
            <a:cxnLst/>
            <a:rect r="r" b="b" t="t" l="l"/>
            <a:pathLst>
              <a:path h="9629727" w="9641780">
                <a:moveTo>
                  <a:pt x="0" y="0"/>
                </a:moveTo>
                <a:lnTo>
                  <a:pt x="9641780" y="0"/>
                </a:lnTo>
                <a:lnTo>
                  <a:pt x="9641780" y="9629728"/>
                </a:lnTo>
                <a:lnTo>
                  <a:pt x="0" y="9629728"/>
                </a:lnTo>
                <a:lnTo>
                  <a:pt x="0" y="0"/>
                </a:lnTo>
                <a:close/>
              </a:path>
            </a:pathLst>
          </a:custGeom>
          <a:blipFill>
            <a:blip r:embed="rId4"/>
            <a:stretch>
              <a:fillRect l="0" t="0" r="0" b="0"/>
            </a:stretch>
          </a:blipFill>
        </p:spPr>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38888" r="0" b="-38888"/>
            </a:stretch>
          </a:blipFill>
        </p:spPr>
      </p:sp>
      <p:sp>
        <p:nvSpPr>
          <p:cNvPr name="Freeform 3" id="3"/>
          <p:cNvSpPr/>
          <p:nvPr/>
        </p:nvSpPr>
        <p:spPr>
          <a:xfrm flipH="false" flipV="false" rot="0">
            <a:off x="11666993" y="2897571"/>
            <a:ext cx="5905844" cy="5504744"/>
          </a:xfrm>
          <a:custGeom>
            <a:avLst/>
            <a:gdLst/>
            <a:ahLst/>
            <a:cxnLst/>
            <a:rect r="r" b="b" t="t" l="l"/>
            <a:pathLst>
              <a:path h="5504744" w="5905844">
                <a:moveTo>
                  <a:pt x="0" y="0"/>
                </a:moveTo>
                <a:lnTo>
                  <a:pt x="5905843" y="0"/>
                </a:lnTo>
                <a:lnTo>
                  <a:pt x="5905843" y="5504744"/>
                </a:lnTo>
                <a:lnTo>
                  <a:pt x="0" y="5504744"/>
                </a:lnTo>
                <a:lnTo>
                  <a:pt x="0" y="0"/>
                </a:lnTo>
                <a:close/>
              </a:path>
            </a:pathLst>
          </a:custGeom>
          <a:blipFill>
            <a:blip r:embed="rId3"/>
            <a:stretch>
              <a:fillRect l="0" t="0" r="0" b="0"/>
            </a:stretch>
          </a:blipFill>
        </p:spPr>
      </p:sp>
      <p:sp>
        <p:nvSpPr>
          <p:cNvPr name="TextBox 4" id="4"/>
          <p:cNvSpPr txBox="true"/>
          <p:nvPr/>
        </p:nvSpPr>
        <p:spPr>
          <a:xfrm rot="0">
            <a:off x="1912366" y="551288"/>
            <a:ext cx="13877604" cy="1274543"/>
          </a:xfrm>
          <a:prstGeom prst="rect">
            <a:avLst/>
          </a:prstGeom>
        </p:spPr>
        <p:txBody>
          <a:bodyPr anchor="t" rtlCol="false" tIns="0" lIns="0" bIns="0" rIns="0">
            <a:spAutoFit/>
          </a:bodyPr>
          <a:lstStyle/>
          <a:p>
            <a:pPr algn="ctr">
              <a:lnSpc>
                <a:spcPts val="10346"/>
              </a:lnSpc>
            </a:pPr>
            <a:r>
              <a:rPr lang="en-US" sz="7443" b="true">
                <a:solidFill>
                  <a:srgbClr val="048AFF"/>
                </a:solidFill>
                <a:latin typeface="Now Bold"/>
                <a:ea typeface="Now Bold"/>
                <a:cs typeface="Now Bold"/>
                <a:sym typeface="Now Bold"/>
              </a:rPr>
              <a:t>Qlik’s Associative Model</a:t>
            </a:r>
          </a:p>
        </p:txBody>
      </p:sp>
      <p:sp>
        <p:nvSpPr>
          <p:cNvPr name="TextBox 5" id="5"/>
          <p:cNvSpPr txBox="true"/>
          <p:nvPr/>
        </p:nvSpPr>
        <p:spPr>
          <a:xfrm rot="0">
            <a:off x="677911" y="2830896"/>
            <a:ext cx="9582732" cy="6234824"/>
          </a:xfrm>
          <a:prstGeom prst="rect">
            <a:avLst/>
          </a:prstGeom>
        </p:spPr>
        <p:txBody>
          <a:bodyPr anchor="t" rtlCol="false" tIns="0" lIns="0" bIns="0" rIns="0">
            <a:spAutoFit/>
          </a:bodyPr>
          <a:lstStyle/>
          <a:p>
            <a:pPr algn="l">
              <a:lnSpc>
                <a:spcPts val="4439"/>
              </a:lnSpc>
              <a:spcBef>
                <a:spcPct val="0"/>
              </a:spcBef>
            </a:pPr>
            <a:r>
              <a:rPr lang="en-US" b="true" sz="3194">
                <a:solidFill>
                  <a:srgbClr val="FFFFFF"/>
                </a:solidFill>
                <a:latin typeface="Now Bold"/>
                <a:ea typeface="Now Bold"/>
                <a:cs typeface="Now Bold"/>
                <a:sym typeface="Now Bold"/>
              </a:rPr>
              <a:t>Qlik’s associative model empowers everyone to see the whole story that lives within their data.</a:t>
            </a:r>
          </a:p>
          <a:p>
            <a:pPr algn="l">
              <a:lnSpc>
                <a:spcPts val="4439"/>
              </a:lnSpc>
              <a:spcBef>
                <a:spcPct val="0"/>
              </a:spcBef>
            </a:pPr>
          </a:p>
          <a:p>
            <a:pPr algn="l">
              <a:lnSpc>
                <a:spcPts val="4439"/>
              </a:lnSpc>
              <a:spcBef>
                <a:spcPct val="0"/>
              </a:spcBef>
            </a:pPr>
            <a:r>
              <a:rPr lang="en-US" b="true" sz="3194">
                <a:solidFill>
                  <a:srgbClr val="FFFFFF"/>
                </a:solidFill>
                <a:latin typeface="Now Bold"/>
                <a:ea typeface="Now Bold"/>
                <a:cs typeface="Now Bold"/>
                <a:sym typeface="Now Bold"/>
              </a:rPr>
              <a:t>It enables users to probe all the possible associations that exist in their data, across all of their data sources. This means users are not limited by predefined hierarchies or preconceived notions of how data should be related, but can finally understand how it is truly related.</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38888" r="0" b="-38888"/>
            </a:stretch>
          </a:blipFill>
        </p:spPr>
      </p:sp>
      <p:sp>
        <p:nvSpPr>
          <p:cNvPr name="Freeform 3" id="3"/>
          <p:cNvSpPr/>
          <p:nvPr/>
        </p:nvSpPr>
        <p:spPr>
          <a:xfrm flipH="false" flipV="false" rot="0">
            <a:off x="15789970" y="7909420"/>
            <a:ext cx="1469330" cy="1421243"/>
          </a:xfrm>
          <a:custGeom>
            <a:avLst/>
            <a:gdLst/>
            <a:ahLst/>
            <a:cxnLst/>
            <a:rect r="r" b="b" t="t" l="l"/>
            <a:pathLst>
              <a:path h="1421243" w="1469330">
                <a:moveTo>
                  <a:pt x="0" y="0"/>
                </a:moveTo>
                <a:lnTo>
                  <a:pt x="1469330" y="0"/>
                </a:lnTo>
                <a:lnTo>
                  <a:pt x="1469330" y="1421243"/>
                </a:lnTo>
                <a:lnTo>
                  <a:pt x="0" y="14212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205198" y="4305628"/>
            <a:ext cx="13877604" cy="1513820"/>
          </a:xfrm>
          <a:prstGeom prst="rect">
            <a:avLst/>
          </a:prstGeom>
        </p:spPr>
        <p:txBody>
          <a:bodyPr anchor="t" rtlCol="false" tIns="0" lIns="0" bIns="0" rIns="0">
            <a:spAutoFit/>
          </a:bodyPr>
          <a:lstStyle/>
          <a:p>
            <a:pPr algn="ctr">
              <a:lnSpc>
                <a:spcPts val="12291"/>
              </a:lnSpc>
            </a:pPr>
            <a:r>
              <a:rPr lang="en-US" sz="8842" b="true">
                <a:solidFill>
                  <a:srgbClr val="048AFF"/>
                </a:solidFill>
                <a:latin typeface="Now Bold"/>
                <a:ea typeface="Now Bold"/>
                <a:cs typeface="Now Bold"/>
                <a:sym typeface="Now Bold"/>
              </a:rPr>
              <a:t>Advantages</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8AFF"/>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38888" r="0" b="-38888"/>
            </a:stretch>
          </a:blipFill>
        </p:spPr>
      </p:sp>
      <p:sp>
        <p:nvSpPr>
          <p:cNvPr name="Freeform 3" id="3"/>
          <p:cNvSpPr/>
          <p:nvPr/>
        </p:nvSpPr>
        <p:spPr>
          <a:xfrm flipH="false" flipV="false" rot="0">
            <a:off x="15789970" y="813098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467110" y="-5252609"/>
            <a:ext cx="9641780" cy="9629727"/>
          </a:xfrm>
          <a:custGeom>
            <a:avLst/>
            <a:gdLst/>
            <a:ahLst/>
            <a:cxnLst/>
            <a:rect r="r" b="b" t="t" l="l"/>
            <a:pathLst>
              <a:path h="9629727" w="9641780">
                <a:moveTo>
                  <a:pt x="0" y="0"/>
                </a:moveTo>
                <a:lnTo>
                  <a:pt x="9641780" y="0"/>
                </a:lnTo>
                <a:lnTo>
                  <a:pt x="9641780" y="9629727"/>
                </a:lnTo>
                <a:lnTo>
                  <a:pt x="0" y="9629727"/>
                </a:lnTo>
                <a:lnTo>
                  <a:pt x="0" y="0"/>
                </a:lnTo>
                <a:close/>
              </a:path>
            </a:pathLst>
          </a:custGeom>
          <a:blipFill>
            <a:blip r:embed="rId5"/>
            <a:stretch>
              <a:fillRect l="0" t="0" r="0" b="0"/>
            </a:stretch>
          </a:blipFill>
        </p:spPr>
      </p:sp>
      <p:sp>
        <p:nvSpPr>
          <p:cNvPr name="Freeform 5" id="5"/>
          <p:cNvSpPr/>
          <p:nvPr/>
        </p:nvSpPr>
        <p:spPr>
          <a:xfrm flipH="false" flipV="false" rot="0">
            <a:off x="10517278" y="2453090"/>
            <a:ext cx="7083150" cy="5456329"/>
          </a:xfrm>
          <a:custGeom>
            <a:avLst/>
            <a:gdLst/>
            <a:ahLst/>
            <a:cxnLst/>
            <a:rect r="r" b="b" t="t" l="l"/>
            <a:pathLst>
              <a:path h="5456329" w="7083150">
                <a:moveTo>
                  <a:pt x="0" y="0"/>
                </a:moveTo>
                <a:lnTo>
                  <a:pt x="7083150" y="0"/>
                </a:lnTo>
                <a:lnTo>
                  <a:pt x="7083150" y="5456330"/>
                </a:lnTo>
                <a:lnTo>
                  <a:pt x="0" y="5456330"/>
                </a:lnTo>
                <a:lnTo>
                  <a:pt x="0" y="0"/>
                </a:lnTo>
                <a:close/>
              </a:path>
            </a:pathLst>
          </a:custGeom>
          <a:blipFill>
            <a:blip r:embed="rId6"/>
            <a:stretch>
              <a:fillRect l="0" t="0" r="0" b="0"/>
            </a:stretch>
          </a:blipFill>
        </p:spPr>
      </p:sp>
      <p:sp>
        <p:nvSpPr>
          <p:cNvPr name="TextBox 6" id="6"/>
          <p:cNvSpPr txBox="true"/>
          <p:nvPr/>
        </p:nvSpPr>
        <p:spPr>
          <a:xfrm rot="0">
            <a:off x="1912366" y="319991"/>
            <a:ext cx="13877604" cy="1274543"/>
          </a:xfrm>
          <a:prstGeom prst="rect">
            <a:avLst/>
          </a:prstGeom>
        </p:spPr>
        <p:txBody>
          <a:bodyPr anchor="t" rtlCol="false" tIns="0" lIns="0" bIns="0" rIns="0">
            <a:spAutoFit/>
          </a:bodyPr>
          <a:lstStyle/>
          <a:p>
            <a:pPr algn="ctr">
              <a:lnSpc>
                <a:spcPts val="10346"/>
              </a:lnSpc>
            </a:pPr>
            <a:r>
              <a:rPr lang="en-US" sz="7443" b="true">
                <a:solidFill>
                  <a:srgbClr val="048AFF"/>
                </a:solidFill>
                <a:latin typeface="Now Bold"/>
                <a:ea typeface="Now Bold"/>
                <a:cs typeface="Now Bold"/>
                <a:sym typeface="Now Bold"/>
              </a:rPr>
              <a:t> Associative Model</a:t>
            </a:r>
          </a:p>
        </p:txBody>
      </p:sp>
      <p:sp>
        <p:nvSpPr>
          <p:cNvPr name="TextBox 7" id="7"/>
          <p:cNvSpPr txBox="true"/>
          <p:nvPr/>
        </p:nvSpPr>
        <p:spPr>
          <a:xfrm rot="0">
            <a:off x="712173" y="3560152"/>
            <a:ext cx="8766185" cy="3090496"/>
          </a:xfrm>
          <a:prstGeom prst="rect">
            <a:avLst/>
          </a:prstGeom>
        </p:spPr>
        <p:txBody>
          <a:bodyPr anchor="t" rtlCol="false" tIns="0" lIns="0" bIns="0" rIns="0">
            <a:spAutoFit/>
          </a:bodyPr>
          <a:lstStyle/>
          <a:p>
            <a:pPr algn="ctr">
              <a:lnSpc>
                <a:spcPts val="6098"/>
              </a:lnSpc>
              <a:spcBef>
                <a:spcPct val="0"/>
              </a:spcBef>
            </a:pPr>
            <a:r>
              <a:rPr lang="en-US" b="true" sz="4387">
                <a:solidFill>
                  <a:srgbClr val="FFFFFF"/>
                </a:solidFill>
                <a:latin typeface="Now Bold"/>
                <a:ea typeface="Now Bold"/>
                <a:cs typeface="Now Bold"/>
                <a:sym typeface="Now Bold"/>
              </a:rPr>
              <a:t>Intuitively navigate complex information, ask questions, and understand relationships in data</a:t>
            </a:r>
          </a:p>
        </p:txBody>
      </p:sp>
      <p:sp>
        <p:nvSpPr>
          <p:cNvPr name="Freeform 8" id="8"/>
          <p:cNvSpPr/>
          <p:nvPr/>
        </p:nvSpPr>
        <p:spPr>
          <a:xfrm flipH="false" flipV="false" rot="0">
            <a:off x="-4546514" y="6650648"/>
            <a:ext cx="9641780" cy="9629727"/>
          </a:xfrm>
          <a:custGeom>
            <a:avLst/>
            <a:gdLst/>
            <a:ahLst/>
            <a:cxnLst/>
            <a:rect r="r" b="b" t="t" l="l"/>
            <a:pathLst>
              <a:path h="9629727" w="9641780">
                <a:moveTo>
                  <a:pt x="0" y="0"/>
                </a:moveTo>
                <a:lnTo>
                  <a:pt x="9641779" y="0"/>
                </a:lnTo>
                <a:lnTo>
                  <a:pt x="9641779" y="9629728"/>
                </a:lnTo>
                <a:lnTo>
                  <a:pt x="0" y="9629728"/>
                </a:lnTo>
                <a:lnTo>
                  <a:pt x="0" y="0"/>
                </a:lnTo>
                <a:close/>
              </a:path>
            </a:pathLst>
          </a:custGeom>
          <a:blipFill>
            <a:blip r:embed="rId5"/>
            <a:stretch>
              <a:fillRect l="0" t="0" r="0" b="0"/>
            </a:stretch>
          </a:blipFill>
        </p:spPr>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38888" r="0" b="-38888"/>
            </a:stretch>
          </a:blipFill>
        </p:spPr>
      </p:sp>
      <p:sp>
        <p:nvSpPr>
          <p:cNvPr name="Freeform 3" id="3"/>
          <p:cNvSpPr/>
          <p:nvPr/>
        </p:nvSpPr>
        <p:spPr>
          <a:xfrm flipH="false" flipV="false" rot="0">
            <a:off x="15789970" y="813098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761485" y="-4814864"/>
            <a:ext cx="9641780" cy="9629727"/>
          </a:xfrm>
          <a:custGeom>
            <a:avLst/>
            <a:gdLst/>
            <a:ahLst/>
            <a:cxnLst/>
            <a:rect r="r" b="b" t="t" l="l"/>
            <a:pathLst>
              <a:path h="9629727" w="9641780">
                <a:moveTo>
                  <a:pt x="0" y="0"/>
                </a:moveTo>
                <a:lnTo>
                  <a:pt x="9641780" y="0"/>
                </a:lnTo>
                <a:lnTo>
                  <a:pt x="9641780" y="9629728"/>
                </a:lnTo>
                <a:lnTo>
                  <a:pt x="0" y="9629728"/>
                </a:lnTo>
                <a:lnTo>
                  <a:pt x="0" y="0"/>
                </a:lnTo>
                <a:close/>
              </a:path>
            </a:pathLst>
          </a:custGeom>
          <a:blipFill>
            <a:blip r:embed="rId5"/>
            <a:stretch>
              <a:fillRect l="0" t="0" r="0" b="0"/>
            </a:stretch>
          </a:blipFill>
        </p:spPr>
      </p:sp>
      <p:sp>
        <p:nvSpPr>
          <p:cNvPr name="Freeform 5" id="5"/>
          <p:cNvSpPr/>
          <p:nvPr/>
        </p:nvSpPr>
        <p:spPr>
          <a:xfrm flipH="false" flipV="false" rot="0">
            <a:off x="10289477" y="2568797"/>
            <a:ext cx="7586602" cy="5149406"/>
          </a:xfrm>
          <a:custGeom>
            <a:avLst/>
            <a:gdLst/>
            <a:ahLst/>
            <a:cxnLst/>
            <a:rect r="r" b="b" t="t" l="l"/>
            <a:pathLst>
              <a:path h="5149406" w="7586602">
                <a:moveTo>
                  <a:pt x="0" y="0"/>
                </a:moveTo>
                <a:lnTo>
                  <a:pt x="7586602" y="0"/>
                </a:lnTo>
                <a:lnTo>
                  <a:pt x="7586602" y="5149406"/>
                </a:lnTo>
                <a:lnTo>
                  <a:pt x="0" y="5149406"/>
                </a:lnTo>
                <a:lnTo>
                  <a:pt x="0" y="0"/>
                </a:lnTo>
                <a:close/>
              </a:path>
            </a:pathLst>
          </a:custGeom>
          <a:blipFill>
            <a:blip r:embed="rId6"/>
            <a:stretch>
              <a:fillRect l="0" t="0" r="0" b="0"/>
            </a:stretch>
          </a:blipFill>
        </p:spPr>
      </p:sp>
      <p:sp>
        <p:nvSpPr>
          <p:cNvPr name="TextBox 6" id="6"/>
          <p:cNvSpPr txBox="true"/>
          <p:nvPr/>
        </p:nvSpPr>
        <p:spPr>
          <a:xfrm rot="0">
            <a:off x="1912366" y="551288"/>
            <a:ext cx="13877604" cy="1274543"/>
          </a:xfrm>
          <a:prstGeom prst="rect">
            <a:avLst/>
          </a:prstGeom>
        </p:spPr>
        <p:txBody>
          <a:bodyPr anchor="t" rtlCol="false" tIns="0" lIns="0" bIns="0" rIns="0">
            <a:spAutoFit/>
          </a:bodyPr>
          <a:lstStyle/>
          <a:p>
            <a:pPr algn="ctr">
              <a:lnSpc>
                <a:spcPts val="10346"/>
              </a:lnSpc>
            </a:pPr>
            <a:r>
              <a:rPr lang="en-US" sz="7443" b="true">
                <a:solidFill>
                  <a:srgbClr val="048AFF"/>
                </a:solidFill>
                <a:latin typeface="Now Bold"/>
                <a:ea typeface="Now Bold"/>
                <a:cs typeface="Now Bold"/>
                <a:sym typeface="Now Bold"/>
              </a:rPr>
              <a:t> Smart Search</a:t>
            </a:r>
          </a:p>
        </p:txBody>
      </p:sp>
      <p:sp>
        <p:nvSpPr>
          <p:cNvPr name="Freeform 7" id="7"/>
          <p:cNvSpPr/>
          <p:nvPr/>
        </p:nvSpPr>
        <p:spPr>
          <a:xfrm flipH="false" flipV="false" rot="0">
            <a:off x="-3815884" y="5972589"/>
            <a:ext cx="9641780" cy="9629727"/>
          </a:xfrm>
          <a:custGeom>
            <a:avLst/>
            <a:gdLst/>
            <a:ahLst/>
            <a:cxnLst/>
            <a:rect r="r" b="b" t="t" l="l"/>
            <a:pathLst>
              <a:path h="9629727" w="9641780">
                <a:moveTo>
                  <a:pt x="0" y="0"/>
                </a:moveTo>
                <a:lnTo>
                  <a:pt x="9641779" y="0"/>
                </a:lnTo>
                <a:lnTo>
                  <a:pt x="9641779" y="9629728"/>
                </a:lnTo>
                <a:lnTo>
                  <a:pt x="0" y="9629728"/>
                </a:lnTo>
                <a:lnTo>
                  <a:pt x="0" y="0"/>
                </a:lnTo>
                <a:close/>
              </a:path>
            </a:pathLst>
          </a:custGeom>
          <a:blipFill>
            <a:blip r:embed="rId5"/>
            <a:stretch>
              <a:fillRect l="0" t="0" r="0" b="0"/>
            </a:stretch>
          </a:blipFill>
        </p:spPr>
      </p:sp>
      <p:sp>
        <p:nvSpPr>
          <p:cNvPr name="TextBox 8" id="8"/>
          <p:cNvSpPr txBox="true"/>
          <p:nvPr/>
        </p:nvSpPr>
        <p:spPr>
          <a:xfrm rot="0">
            <a:off x="1005006" y="2315736"/>
            <a:ext cx="8138994" cy="7757815"/>
          </a:xfrm>
          <a:prstGeom prst="rect">
            <a:avLst/>
          </a:prstGeom>
        </p:spPr>
        <p:txBody>
          <a:bodyPr anchor="t" rtlCol="false" tIns="0" lIns="0" bIns="0" rIns="0">
            <a:spAutoFit/>
          </a:bodyPr>
          <a:lstStyle/>
          <a:p>
            <a:pPr algn="just">
              <a:lnSpc>
                <a:spcPts val="4203"/>
              </a:lnSpc>
              <a:spcBef>
                <a:spcPct val="0"/>
              </a:spcBef>
            </a:pPr>
            <a:r>
              <a:rPr lang="en-US" b="true" sz="3023">
                <a:solidFill>
                  <a:srgbClr val="FFFFFF"/>
                </a:solidFill>
                <a:latin typeface="Now Bold"/>
                <a:ea typeface="Now Bold"/>
                <a:cs typeface="Now Bold"/>
                <a:sym typeface="Now Bold"/>
              </a:rPr>
              <a:t>•G</a:t>
            </a:r>
            <a:r>
              <a:rPr lang="en-US" b="true" sz="3023">
                <a:solidFill>
                  <a:srgbClr val="FFFFFF"/>
                </a:solidFill>
                <a:latin typeface="Now Bold"/>
                <a:ea typeface="Now Bold"/>
                <a:cs typeface="Now Bold"/>
                <a:sym typeface="Now Bold"/>
              </a:rPr>
              <a:t>lobalsearch across theentire app  andall your data using keywords:</a:t>
            </a:r>
          </a:p>
          <a:p>
            <a:pPr algn="just">
              <a:lnSpc>
                <a:spcPts val="5412"/>
              </a:lnSpc>
            </a:pPr>
            <a:r>
              <a:rPr lang="en-US" b="true" sz="3023">
                <a:solidFill>
                  <a:srgbClr val="FFFFFF"/>
                </a:solidFill>
                <a:latin typeface="Now Bold"/>
                <a:ea typeface="Now Bold"/>
                <a:cs typeface="Now Bold"/>
                <a:sym typeface="Now Bold"/>
              </a:rPr>
              <a:t>–Multiple keyword search fordata andassociations</a:t>
            </a:r>
          </a:p>
          <a:p>
            <a:pPr algn="just">
              <a:lnSpc>
                <a:spcPts val="5412"/>
              </a:lnSpc>
            </a:pPr>
            <a:r>
              <a:rPr lang="en-US" b="true" sz="3023">
                <a:solidFill>
                  <a:srgbClr val="FFFFFF"/>
                </a:solidFill>
                <a:latin typeface="Now Bold"/>
                <a:ea typeface="Now Bold"/>
                <a:cs typeface="Now Bold"/>
                <a:sym typeface="Now Bold"/>
              </a:rPr>
              <a:t>–Visual search forcharts andobjects</a:t>
            </a:r>
          </a:p>
          <a:p>
            <a:pPr algn="just">
              <a:lnSpc>
                <a:spcPts val="5412"/>
              </a:lnSpc>
            </a:pPr>
            <a:r>
              <a:rPr lang="en-US" b="true" sz="3023">
                <a:solidFill>
                  <a:srgbClr val="FFFFFF"/>
                </a:solidFill>
                <a:latin typeface="Now Bold"/>
                <a:ea typeface="Now Bold"/>
                <a:cs typeface="Now Bold"/>
                <a:sym typeface="Now Bold"/>
              </a:rPr>
              <a:t>–Search within filters andfields</a:t>
            </a:r>
          </a:p>
          <a:p>
            <a:pPr algn="just">
              <a:lnSpc>
                <a:spcPts val="4203"/>
              </a:lnSpc>
              <a:spcBef>
                <a:spcPct val="0"/>
              </a:spcBef>
            </a:pPr>
          </a:p>
          <a:p>
            <a:pPr algn="just">
              <a:lnSpc>
                <a:spcPts val="4203"/>
              </a:lnSpc>
              <a:spcBef>
                <a:spcPct val="0"/>
              </a:spcBef>
            </a:pPr>
            <a:r>
              <a:rPr lang="en-US" b="true" sz="3023">
                <a:solidFill>
                  <a:srgbClr val="FFFFFF"/>
                </a:solidFill>
                <a:latin typeface="Now Bold"/>
                <a:ea typeface="Now Bold"/>
                <a:cs typeface="Now Bold"/>
                <a:sym typeface="Now Bold"/>
              </a:rPr>
              <a:t>•Dimension matches andrelationships  rankedbased onstrength of  associations</a:t>
            </a:r>
          </a:p>
          <a:p>
            <a:pPr algn="just">
              <a:lnSpc>
                <a:spcPts val="4203"/>
              </a:lnSpc>
              <a:spcBef>
                <a:spcPct val="0"/>
              </a:spcBef>
            </a:pPr>
          </a:p>
          <a:p>
            <a:pPr algn="just">
              <a:lnSpc>
                <a:spcPts val="4203"/>
              </a:lnSpc>
              <a:spcBef>
                <a:spcPct val="0"/>
              </a:spcBef>
            </a:pPr>
            <a:r>
              <a:rPr lang="en-US" b="true" sz="3023">
                <a:solidFill>
                  <a:srgbClr val="FFFFFF"/>
                </a:solidFill>
                <a:latin typeface="Now Bold"/>
                <a:ea typeface="Now Bold"/>
                <a:cs typeface="Now Bold"/>
                <a:sym typeface="Now Bold"/>
              </a:rPr>
              <a:t>•Chartsand graphs returned asvisual  thumbnails</a:t>
            </a:r>
          </a:p>
          <a:p>
            <a:pPr algn="just">
              <a:lnSpc>
                <a:spcPts val="6833"/>
              </a:lnSpc>
            </a:pP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38888" r="0" b="-38888"/>
            </a:stretch>
          </a:blipFill>
        </p:spPr>
      </p:sp>
      <p:sp>
        <p:nvSpPr>
          <p:cNvPr name="Freeform 3" id="3"/>
          <p:cNvSpPr/>
          <p:nvPr/>
        </p:nvSpPr>
        <p:spPr>
          <a:xfrm flipH="false" flipV="false" rot="0">
            <a:off x="15789970" y="813098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438410" y="-5076387"/>
            <a:ext cx="9641780" cy="9629727"/>
          </a:xfrm>
          <a:custGeom>
            <a:avLst/>
            <a:gdLst/>
            <a:ahLst/>
            <a:cxnLst/>
            <a:rect r="r" b="b" t="t" l="l"/>
            <a:pathLst>
              <a:path h="9629727" w="9641780">
                <a:moveTo>
                  <a:pt x="0" y="0"/>
                </a:moveTo>
                <a:lnTo>
                  <a:pt x="9641780" y="0"/>
                </a:lnTo>
                <a:lnTo>
                  <a:pt x="9641780" y="9629728"/>
                </a:lnTo>
                <a:lnTo>
                  <a:pt x="0" y="9629728"/>
                </a:lnTo>
                <a:lnTo>
                  <a:pt x="0" y="0"/>
                </a:lnTo>
                <a:close/>
              </a:path>
            </a:pathLst>
          </a:custGeom>
          <a:blipFill>
            <a:blip r:embed="rId5"/>
            <a:stretch>
              <a:fillRect l="0" t="0" r="0" b="0"/>
            </a:stretch>
          </a:blipFill>
        </p:spPr>
      </p:sp>
      <p:pic>
        <p:nvPicPr>
          <p:cNvPr name="Picture 5" id="5">
            <a:hlinkClick action="ppaction://media"/>
          </p:cNvPr>
          <p:cNvPicPr>
            <a:picLocks noChangeAspect="true"/>
          </p:cNvPicPr>
          <p:nvPr>
            <a:videoFile r:link="rId7"/>
            <p:extLst>
              <p:ext uri="{DAA4B4D4-6D71-4841-9C94-3DE7FCFB9230}">
                <p14:media xmlns:p14="http://schemas.microsoft.com/office/powerpoint/2010/main" r:embed="rId8"/>
              </p:ext>
            </p:extLst>
          </p:nvPr>
        </p:nvPicPr>
        <p:blipFill>
          <a:blip r:embed="rId6"/>
          <a:srcRect l="1119" t="0" r="1119" b="0"/>
          <a:stretch>
            <a:fillRect/>
          </a:stretch>
        </p:blipFill>
        <p:spPr>
          <a:xfrm flipH="false" flipV="false" rot="0">
            <a:off x="9362888" y="1991071"/>
            <a:ext cx="8558324" cy="5343075"/>
          </a:xfrm>
          <a:prstGeom prst="rect">
            <a:avLst/>
          </a:prstGeom>
        </p:spPr>
      </p:pic>
      <p:sp>
        <p:nvSpPr>
          <p:cNvPr name="TextBox 6" id="6"/>
          <p:cNvSpPr txBox="true"/>
          <p:nvPr/>
        </p:nvSpPr>
        <p:spPr>
          <a:xfrm rot="0">
            <a:off x="1706772" y="286954"/>
            <a:ext cx="13877604" cy="1274543"/>
          </a:xfrm>
          <a:prstGeom prst="rect">
            <a:avLst/>
          </a:prstGeom>
        </p:spPr>
        <p:txBody>
          <a:bodyPr anchor="t" rtlCol="false" tIns="0" lIns="0" bIns="0" rIns="0">
            <a:spAutoFit/>
          </a:bodyPr>
          <a:lstStyle/>
          <a:p>
            <a:pPr algn="ctr">
              <a:lnSpc>
                <a:spcPts val="10346"/>
              </a:lnSpc>
            </a:pPr>
            <a:r>
              <a:rPr lang="en-US" sz="7443" b="true">
                <a:solidFill>
                  <a:srgbClr val="048AFF"/>
                </a:solidFill>
                <a:latin typeface="Now Bold"/>
                <a:ea typeface="Now Bold"/>
                <a:cs typeface="Now Bold"/>
                <a:sym typeface="Now Bold"/>
              </a:rPr>
              <a:t>  Modern User Experience</a:t>
            </a:r>
          </a:p>
        </p:txBody>
      </p:sp>
      <p:sp>
        <p:nvSpPr>
          <p:cNvPr name="Freeform 7" id="7"/>
          <p:cNvSpPr/>
          <p:nvPr/>
        </p:nvSpPr>
        <p:spPr>
          <a:xfrm flipH="false" flipV="false" rot="0">
            <a:off x="-3114117" y="6137578"/>
            <a:ext cx="9641780" cy="9629727"/>
          </a:xfrm>
          <a:custGeom>
            <a:avLst/>
            <a:gdLst/>
            <a:ahLst/>
            <a:cxnLst/>
            <a:rect r="r" b="b" t="t" l="l"/>
            <a:pathLst>
              <a:path h="9629727" w="9641780">
                <a:moveTo>
                  <a:pt x="0" y="0"/>
                </a:moveTo>
                <a:lnTo>
                  <a:pt x="9641779" y="0"/>
                </a:lnTo>
                <a:lnTo>
                  <a:pt x="9641779" y="9629727"/>
                </a:lnTo>
                <a:lnTo>
                  <a:pt x="0" y="9629727"/>
                </a:lnTo>
                <a:lnTo>
                  <a:pt x="0" y="0"/>
                </a:lnTo>
                <a:close/>
              </a:path>
            </a:pathLst>
          </a:custGeom>
          <a:blipFill>
            <a:blip r:embed="rId5"/>
            <a:stretch>
              <a:fillRect l="0" t="0" r="0" b="0"/>
            </a:stretch>
          </a:blipFill>
        </p:spPr>
      </p:sp>
      <p:sp>
        <p:nvSpPr>
          <p:cNvPr name="TextBox 8" id="8"/>
          <p:cNvSpPr txBox="true"/>
          <p:nvPr/>
        </p:nvSpPr>
        <p:spPr>
          <a:xfrm rot="0">
            <a:off x="682803" y="1838671"/>
            <a:ext cx="8138994" cy="6687978"/>
          </a:xfrm>
          <a:prstGeom prst="rect">
            <a:avLst/>
          </a:prstGeom>
        </p:spPr>
        <p:txBody>
          <a:bodyPr anchor="t" rtlCol="false" tIns="0" lIns="0" bIns="0" rIns="0">
            <a:spAutoFit/>
          </a:bodyPr>
          <a:lstStyle/>
          <a:p>
            <a:pPr algn="just">
              <a:lnSpc>
                <a:spcPts val="5200"/>
              </a:lnSpc>
            </a:pPr>
            <a:r>
              <a:rPr lang="en-US" b="true" sz="3023">
                <a:solidFill>
                  <a:srgbClr val="FFFFFF"/>
                </a:solidFill>
                <a:latin typeface="Now Bold"/>
                <a:ea typeface="Now Bold"/>
                <a:cs typeface="Now Bold"/>
                <a:sym typeface="Now Bold"/>
              </a:rPr>
              <a:t>•An e</a:t>
            </a:r>
            <a:r>
              <a:rPr lang="en-US" b="true" sz="3023">
                <a:solidFill>
                  <a:srgbClr val="FFFFFF"/>
                </a:solidFill>
                <a:latin typeface="Now Bold"/>
                <a:ea typeface="Now Bold"/>
                <a:cs typeface="Now Bold"/>
                <a:sym typeface="Now Bold"/>
              </a:rPr>
              <a:t>legant and intuitive user interface</a:t>
            </a:r>
          </a:p>
          <a:p>
            <a:pPr algn="just">
              <a:lnSpc>
                <a:spcPts val="5200"/>
              </a:lnSpc>
            </a:pPr>
            <a:r>
              <a:rPr lang="en-US" b="true" sz="3023">
                <a:solidFill>
                  <a:srgbClr val="FFFFFF"/>
                </a:solidFill>
                <a:latin typeface="Now Bold"/>
                <a:ea typeface="Now Bold"/>
                <a:cs typeface="Now Bold"/>
                <a:sym typeface="Now Bold"/>
              </a:rPr>
              <a:t>–Streamlinedgraphics anddesigns</a:t>
            </a:r>
          </a:p>
          <a:p>
            <a:pPr algn="just">
              <a:lnSpc>
                <a:spcPts val="5200"/>
              </a:lnSpc>
            </a:pPr>
            <a:r>
              <a:rPr lang="en-US" b="true" sz="3023">
                <a:solidFill>
                  <a:srgbClr val="FFFFFF"/>
                </a:solidFill>
                <a:latin typeface="Now Bold"/>
                <a:ea typeface="Now Bold"/>
                <a:cs typeface="Now Bold"/>
                <a:sym typeface="Now Bold"/>
              </a:rPr>
              <a:t>–Simplifiedlayout andnavigation</a:t>
            </a:r>
          </a:p>
          <a:p>
            <a:pPr algn="just">
              <a:lnSpc>
                <a:spcPts val="5200"/>
              </a:lnSpc>
            </a:pPr>
            <a:r>
              <a:rPr lang="en-US" b="true" sz="3023">
                <a:solidFill>
                  <a:srgbClr val="FFFFFF"/>
                </a:solidFill>
                <a:latin typeface="Now Bold"/>
                <a:ea typeface="Now Bold"/>
                <a:cs typeface="Now Bold"/>
                <a:sym typeface="Now Bold"/>
              </a:rPr>
              <a:t>–Orientation techniques</a:t>
            </a:r>
          </a:p>
          <a:p>
            <a:pPr algn="just">
              <a:lnSpc>
                <a:spcPts val="5200"/>
              </a:lnSpc>
            </a:pPr>
            <a:r>
              <a:rPr lang="en-US" b="true" sz="3023">
                <a:solidFill>
                  <a:srgbClr val="FFFFFF"/>
                </a:solidFill>
                <a:latin typeface="Now Bold"/>
                <a:ea typeface="Now Bold"/>
                <a:cs typeface="Now Bold"/>
                <a:sym typeface="Now Bold"/>
              </a:rPr>
              <a:t>•Streamlined ability to navigate,  performanalysis,and gain insight</a:t>
            </a:r>
          </a:p>
          <a:p>
            <a:pPr algn="just">
              <a:lnSpc>
                <a:spcPts val="5200"/>
              </a:lnSpc>
            </a:pPr>
            <a:r>
              <a:rPr lang="en-US" b="true" sz="3023">
                <a:solidFill>
                  <a:srgbClr val="FFFFFF"/>
                </a:solidFill>
                <a:latin typeface="Now Bold"/>
                <a:ea typeface="Now Bold"/>
                <a:cs typeface="Now Bold"/>
                <a:sym typeface="Now Bold"/>
              </a:rPr>
              <a:t>•Uses cutting edge HTML5 technology  availablethrough allmodern browsers  ordesktop appon PC</a:t>
            </a:r>
          </a:p>
          <a:p>
            <a:pPr algn="just">
              <a:lnSpc>
                <a:spcPts val="6833"/>
              </a:lnSpc>
            </a:pP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10</a:t>
            </a:r>
          </a:p>
        </p:txBody>
      </p:sp>
    </p:spTree>
  </p:cSld>
  <p:clrMapOvr>
    <a:masterClrMapping/>
  </p:clrMapOvr>
  <p:timing>
    <p:tnLst>
      <p:par>
        <p:cTn dur="indefinite" restart="never" nodeType="tmRoot">
          <p:childTnLst>
            <p:video>
              <p:cMediaNode vol="0">
                <p:cTn fill="hold" display="false">
                  <p:stCondLst>
                    <p:cond delay="indefinite"/>
                  </p:stCondLst>
                </p:cTn>
                <p:tgtEl>
                  <p:spTgt spid="5"/>
                </p:tgtEl>
              </p:cMediaNode>
            </p:video>
          </p:childTnLst>
        </p:cTn>
      </p:par>
    </p:tnLst>
  </p:timing>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38888" r="0" b="-38888"/>
            </a:stretch>
          </a:blipFill>
        </p:spPr>
      </p:sp>
      <p:sp>
        <p:nvSpPr>
          <p:cNvPr name="Freeform 3" id="3"/>
          <p:cNvSpPr/>
          <p:nvPr/>
        </p:nvSpPr>
        <p:spPr>
          <a:xfrm flipH="false" flipV="false" rot="0">
            <a:off x="15789970" y="8130988"/>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761485" y="-4814864"/>
            <a:ext cx="9641780" cy="9629727"/>
          </a:xfrm>
          <a:custGeom>
            <a:avLst/>
            <a:gdLst/>
            <a:ahLst/>
            <a:cxnLst/>
            <a:rect r="r" b="b" t="t" l="l"/>
            <a:pathLst>
              <a:path h="9629727" w="9641780">
                <a:moveTo>
                  <a:pt x="0" y="0"/>
                </a:moveTo>
                <a:lnTo>
                  <a:pt x="9641780" y="0"/>
                </a:lnTo>
                <a:lnTo>
                  <a:pt x="9641780" y="9629728"/>
                </a:lnTo>
                <a:lnTo>
                  <a:pt x="0" y="9629728"/>
                </a:lnTo>
                <a:lnTo>
                  <a:pt x="0" y="0"/>
                </a:lnTo>
                <a:close/>
              </a:path>
            </a:pathLst>
          </a:custGeom>
          <a:blipFill>
            <a:blip r:embed="rId5"/>
            <a:stretch>
              <a:fillRect l="0" t="0" r="0" b="0"/>
            </a:stretch>
          </a:blipFill>
        </p:spPr>
      </p:sp>
      <p:sp>
        <p:nvSpPr>
          <p:cNvPr name="Freeform 5" id="5"/>
          <p:cNvSpPr/>
          <p:nvPr/>
        </p:nvSpPr>
        <p:spPr>
          <a:xfrm flipH="false" flipV="false" rot="0">
            <a:off x="9993983" y="2334786"/>
            <a:ext cx="7774419" cy="5053372"/>
          </a:xfrm>
          <a:custGeom>
            <a:avLst/>
            <a:gdLst/>
            <a:ahLst/>
            <a:cxnLst/>
            <a:rect r="r" b="b" t="t" l="l"/>
            <a:pathLst>
              <a:path h="5053372" w="7774419">
                <a:moveTo>
                  <a:pt x="0" y="0"/>
                </a:moveTo>
                <a:lnTo>
                  <a:pt x="7774418" y="0"/>
                </a:lnTo>
                <a:lnTo>
                  <a:pt x="7774418" y="5053373"/>
                </a:lnTo>
                <a:lnTo>
                  <a:pt x="0" y="5053373"/>
                </a:lnTo>
                <a:lnTo>
                  <a:pt x="0" y="0"/>
                </a:lnTo>
                <a:close/>
              </a:path>
            </a:pathLst>
          </a:custGeom>
          <a:blipFill>
            <a:blip r:embed="rId6"/>
            <a:stretch>
              <a:fillRect l="0" t="0" r="0" b="0"/>
            </a:stretch>
          </a:blipFill>
        </p:spPr>
      </p:sp>
      <p:sp>
        <p:nvSpPr>
          <p:cNvPr name="TextBox 6" id="6"/>
          <p:cNvSpPr txBox="true"/>
          <p:nvPr/>
        </p:nvSpPr>
        <p:spPr>
          <a:xfrm rot="0">
            <a:off x="1912366" y="551288"/>
            <a:ext cx="13877604" cy="1274543"/>
          </a:xfrm>
          <a:prstGeom prst="rect">
            <a:avLst/>
          </a:prstGeom>
        </p:spPr>
        <p:txBody>
          <a:bodyPr anchor="t" rtlCol="false" tIns="0" lIns="0" bIns="0" rIns="0">
            <a:spAutoFit/>
          </a:bodyPr>
          <a:lstStyle/>
          <a:p>
            <a:pPr algn="ctr">
              <a:lnSpc>
                <a:spcPts val="10346"/>
              </a:lnSpc>
            </a:pPr>
            <a:r>
              <a:rPr lang="en-US" sz="7443" b="true">
                <a:solidFill>
                  <a:srgbClr val="048AFF"/>
                </a:solidFill>
                <a:latin typeface="Now Bold"/>
                <a:ea typeface="Now Bold"/>
                <a:cs typeface="Now Bold"/>
                <a:sym typeface="Now Bold"/>
              </a:rPr>
              <a:t>Visual Exploration</a:t>
            </a:r>
          </a:p>
        </p:txBody>
      </p:sp>
      <p:sp>
        <p:nvSpPr>
          <p:cNvPr name="Freeform 7" id="7"/>
          <p:cNvSpPr/>
          <p:nvPr/>
        </p:nvSpPr>
        <p:spPr>
          <a:xfrm flipH="false" flipV="false" rot="0">
            <a:off x="-3357344" y="5472136"/>
            <a:ext cx="9641780" cy="9629727"/>
          </a:xfrm>
          <a:custGeom>
            <a:avLst/>
            <a:gdLst/>
            <a:ahLst/>
            <a:cxnLst/>
            <a:rect r="r" b="b" t="t" l="l"/>
            <a:pathLst>
              <a:path h="9629727" w="9641780">
                <a:moveTo>
                  <a:pt x="0" y="0"/>
                </a:moveTo>
                <a:lnTo>
                  <a:pt x="9641780" y="0"/>
                </a:lnTo>
                <a:lnTo>
                  <a:pt x="9641780" y="9629728"/>
                </a:lnTo>
                <a:lnTo>
                  <a:pt x="0" y="9629728"/>
                </a:lnTo>
                <a:lnTo>
                  <a:pt x="0" y="0"/>
                </a:lnTo>
                <a:close/>
              </a:path>
            </a:pathLst>
          </a:custGeom>
          <a:blipFill>
            <a:blip r:embed="rId5"/>
            <a:stretch>
              <a:fillRect l="0" t="0" r="0" b="0"/>
            </a:stretch>
          </a:blipFill>
        </p:spPr>
      </p:sp>
      <p:sp>
        <p:nvSpPr>
          <p:cNvPr name="TextBox 8" id="8"/>
          <p:cNvSpPr txBox="true"/>
          <p:nvPr/>
        </p:nvSpPr>
        <p:spPr>
          <a:xfrm rot="0">
            <a:off x="712173" y="2065634"/>
            <a:ext cx="8138994" cy="8221366"/>
          </a:xfrm>
          <a:prstGeom prst="rect">
            <a:avLst/>
          </a:prstGeom>
        </p:spPr>
        <p:txBody>
          <a:bodyPr anchor="t" rtlCol="false" tIns="0" lIns="0" bIns="0" rIns="0">
            <a:spAutoFit/>
          </a:bodyPr>
          <a:lstStyle/>
          <a:p>
            <a:pPr algn="just">
              <a:lnSpc>
                <a:spcPts val="4203"/>
              </a:lnSpc>
            </a:pPr>
            <a:r>
              <a:rPr lang="en-US" b="true" sz="3023">
                <a:solidFill>
                  <a:srgbClr val="FFFFFF"/>
                </a:solidFill>
                <a:latin typeface="Now Bold"/>
                <a:ea typeface="Now Bold"/>
                <a:cs typeface="Now Bold"/>
                <a:sym typeface="Now Bold"/>
              </a:rPr>
              <a:t>•Al</a:t>
            </a:r>
            <a:r>
              <a:rPr lang="en-US" b="true" sz="3023">
                <a:solidFill>
                  <a:srgbClr val="FFFFFF"/>
                </a:solidFill>
                <a:latin typeface="Now Bold"/>
                <a:ea typeface="Now Bold"/>
                <a:cs typeface="Now Bold"/>
                <a:sym typeface="Now Bold"/>
              </a:rPr>
              <a:t>lows users tochange the properties of  visualizations andobjects wh</a:t>
            </a:r>
            <a:r>
              <a:rPr lang="en-US" b="true" sz="3023">
                <a:solidFill>
                  <a:srgbClr val="FFFFFF"/>
                </a:solidFill>
                <a:latin typeface="Now Bold"/>
                <a:ea typeface="Now Bold"/>
                <a:cs typeface="Now Bold"/>
                <a:sym typeface="Now Bold"/>
              </a:rPr>
              <a:t>ile exploring</a:t>
            </a:r>
          </a:p>
          <a:p>
            <a:pPr algn="just">
              <a:lnSpc>
                <a:spcPts val="4203"/>
              </a:lnSpc>
            </a:pPr>
          </a:p>
          <a:p>
            <a:pPr algn="just">
              <a:lnSpc>
                <a:spcPts val="4203"/>
              </a:lnSpc>
            </a:pPr>
            <a:r>
              <a:rPr lang="en-US" b="true" sz="3023">
                <a:solidFill>
                  <a:srgbClr val="FFFFFF"/>
                </a:solidFill>
                <a:latin typeface="Now Bold"/>
                <a:ea typeface="Now Bold"/>
                <a:cs typeface="Now Bold"/>
                <a:sym typeface="Now Bold"/>
              </a:rPr>
              <a:t>•Includes alternate dimensions and  measures, sort order, color schemes,  andchart presentations</a:t>
            </a:r>
          </a:p>
          <a:p>
            <a:pPr algn="just">
              <a:lnSpc>
                <a:spcPts val="4203"/>
              </a:lnSpc>
            </a:pPr>
          </a:p>
          <a:p>
            <a:pPr algn="just">
              <a:lnSpc>
                <a:spcPts val="4203"/>
              </a:lnSpc>
              <a:spcBef>
                <a:spcPct val="0"/>
              </a:spcBef>
            </a:pPr>
            <a:r>
              <a:rPr lang="en-US" b="true" sz="3023">
                <a:solidFill>
                  <a:srgbClr val="FFFFFF"/>
                </a:solidFill>
                <a:latin typeface="Now Bold"/>
                <a:ea typeface="Now Bold"/>
                <a:cs typeface="Now Bold"/>
                <a:sym typeface="Now Bold"/>
              </a:rPr>
              <a:t>•Users can‘cycle’ between alternate  d</a:t>
            </a:r>
            <a:r>
              <a:rPr lang="en-US" b="true" sz="3023">
                <a:solidFill>
                  <a:srgbClr val="FFFFFF"/>
                </a:solidFill>
                <a:latin typeface="Now Bold"/>
                <a:ea typeface="Now Bold"/>
                <a:cs typeface="Now Bold"/>
                <a:sym typeface="Now Bold"/>
              </a:rPr>
              <a:t>imensions andmeasures using visual  exploration</a:t>
            </a:r>
          </a:p>
          <a:p>
            <a:pPr algn="just">
              <a:lnSpc>
                <a:spcPts val="4203"/>
              </a:lnSpc>
              <a:spcBef>
                <a:spcPct val="0"/>
              </a:spcBef>
            </a:pPr>
          </a:p>
          <a:p>
            <a:pPr algn="just">
              <a:lnSpc>
                <a:spcPts val="4203"/>
              </a:lnSpc>
              <a:spcBef>
                <a:spcPct val="0"/>
              </a:spcBef>
            </a:pPr>
            <a:r>
              <a:rPr lang="en-US" b="true" sz="3023">
                <a:solidFill>
                  <a:srgbClr val="FFFFFF"/>
                </a:solidFill>
                <a:latin typeface="Now Bold"/>
                <a:ea typeface="Now Bold"/>
                <a:cs typeface="Now Bold"/>
                <a:sym typeface="Now Bold"/>
              </a:rPr>
              <a:t>•New views areretained specific tothe  user, andusers canrevert back todefault  views</a:t>
            </a:r>
          </a:p>
          <a:p>
            <a:pPr algn="just">
              <a:lnSpc>
                <a:spcPts val="6833"/>
              </a:lnSpc>
            </a:pP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38888" r="0" b="-38888"/>
            </a:stretch>
          </a:blipFill>
        </p:spPr>
      </p:sp>
      <p:sp>
        <p:nvSpPr>
          <p:cNvPr name="Freeform 3" id="3"/>
          <p:cNvSpPr/>
          <p:nvPr/>
        </p:nvSpPr>
        <p:spPr>
          <a:xfrm flipH="false" flipV="false" rot="0">
            <a:off x="15789970" y="7909420"/>
            <a:ext cx="1469330" cy="1421243"/>
          </a:xfrm>
          <a:custGeom>
            <a:avLst/>
            <a:gdLst/>
            <a:ahLst/>
            <a:cxnLst/>
            <a:rect r="r" b="b" t="t" l="l"/>
            <a:pathLst>
              <a:path h="1421243" w="1469330">
                <a:moveTo>
                  <a:pt x="0" y="0"/>
                </a:moveTo>
                <a:lnTo>
                  <a:pt x="1469330" y="0"/>
                </a:lnTo>
                <a:lnTo>
                  <a:pt x="1469330" y="1421243"/>
                </a:lnTo>
                <a:lnTo>
                  <a:pt x="0" y="14212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205198" y="4305628"/>
            <a:ext cx="13877604" cy="1513820"/>
          </a:xfrm>
          <a:prstGeom prst="rect">
            <a:avLst/>
          </a:prstGeom>
        </p:spPr>
        <p:txBody>
          <a:bodyPr anchor="t" rtlCol="false" tIns="0" lIns="0" bIns="0" rIns="0">
            <a:spAutoFit/>
          </a:bodyPr>
          <a:lstStyle/>
          <a:p>
            <a:pPr algn="ctr">
              <a:lnSpc>
                <a:spcPts val="12291"/>
              </a:lnSpc>
            </a:pPr>
            <a:r>
              <a:rPr lang="en-US" sz="8842" b="true">
                <a:solidFill>
                  <a:srgbClr val="048AFF"/>
                </a:solidFill>
                <a:latin typeface="Now Bold"/>
                <a:ea typeface="Now Bold"/>
                <a:cs typeface="Now Bold"/>
                <a:sym typeface="Now Bold"/>
              </a:rPr>
              <a:t>Versions</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8AFF"/>
                </a:solidFill>
                <a:latin typeface="Canva Sans"/>
                <a:ea typeface="Canva Sans"/>
                <a:cs typeface="Canva Sans"/>
                <a:sym typeface="Canva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38888" r="0" b="-38888"/>
            </a:stretch>
          </a:blipFill>
        </p:spPr>
      </p:sp>
      <p:sp>
        <p:nvSpPr>
          <p:cNvPr name="Freeform 3" id="3"/>
          <p:cNvSpPr/>
          <p:nvPr/>
        </p:nvSpPr>
        <p:spPr>
          <a:xfrm flipH="false" flipV="false" rot="0">
            <a:off x="12761485" y="-4814864"/>
            <a:ext cx="9641780" cy="9629727"/>
          </a:xfrm>
          <a:custGeom>
            <a:avLst/>
            <a:gdLst/>
            <a:ahLst/>
            <a:cxnLst/>
            <a:rect r="r" b="b" t="t" l="l"/>
            <a:pathLst>
              <a:path h="9629727" w="9641780">
                <a:moveTo>
                  <a:pt x="0" y="0"/>
                </a:moveTo>
                <a:lnTo>
                  <a:pt x="9641780" y="0"/>
                </a:lnTo>
                <a:lnTo>
                  <a:pt x="9641780" y="9629728"/>
                </a:lnTo>
                <a:lnTo>
                  <a:pt x="0" y="9629728"/>
                </a:lnTo>
                <a:lnTo>
                  <a:pt x="0" y="0"/>
                </a:lnTo>
                <a:close/>
              </a:path>
            </a:pathLst>
          </a:custGeom>
          <a:blipFill>
            <a:blip r:embed="rId3"/>
            <a:stretch>
              <a:fillRect l="0" t="0" r="0" b="0"/>
            </a:stretch>
          </a:blipFill>
        </p:spPr>
      </p:sp>
      <p:sp>
        <p:nvSpPr>
          <p:cNvPr name="Freeform 4" id="4"/>
          <p:cNvSpPr/>
          <p:nvPr/>
        </p:nvSpPr>
        <p:spPr>
          <a:xfrm flipH="false" flipV="false" rot="0">
            <a:off x="-3357344" y="5472136"/>
            <a:ext cx="9641780" cy="9629727"/>
          </a:xfrm>
          <a:custGeom>
            <a:avLst/>
            <a:gdLst/>
            <a:ahLst/>
            <a:cxnLst/>
            <a:rect r="r" b="b" t="t" l="l"/>
            <a:pathLst>
              <a:path h="9629727" w="9641780">
                <a:moveTo>
                  <a:pt x="0" y="0"/>
                </a:moveTo>
                <a:lnTo>
                  <a:pt x="9641780" y="0"/>
                </a:lnTo>
                <a:lnTo>
                  <a:pt x="9641780" y="9629728"/>
                </a:lnTo>
                <a:lnTo>
                  <a:pt x="0" y="9629728"/>
                </a:lnTo>
                <a:lnTo>
                  <a:pt x="0" y="0"/>
                </a:lnTo>
                <a:close/>
              </a:path>
            </a:pathLst>
          </a:custGeom>
          <a:blipFill>
            <a:blip r:embed="rId3"/>
            <a:stretch>
              <a:fillRect l="0" t="0" r="0" b="0"/>
            </a:stretch>
          </a:blipFill>
        </p:spPr>
      </p:sp>
      <p:sp>
        <p:nvSpPr>
          <p:cNvPr name="Freeform 5" id="5"/>
          <p:cNvSpPr/>
          <p:nvPr/>
        </p:nvSpPr>
        <p:spPr>
          <a:xfrm flipH="false" flipV="false" rot="0">
            <a:off x="2099498" y="3519936"/>
            <a:ext cx="14089004" cy="2916948"/>
          </a:xfrm>
          <a:custGeom>
            <a:avLst/>
            <a:gdLst/>
            <a:ahLst/>
            <a:cxnLst/>
            <a:rect r="r" b="b" t="t" l="l"/>
            <a:pathLst>
              <a:path h="2916948" w="14089004">
                <a:moveTo>
                  <a:pt x="0" y="0"/>
                </a:moveTo>
                <a:lnTo>
                  <a:pt x="14089004" y="0"/>
                </a:lnTo>
                <a:lnTo>
                  <a:pt x="14089004" y="2916948"/>
                </a:lnTo>
                <a:lnTo>
                  <a:pt x="0" y="2916948"/>
                </a:lnTo>
                <a:lnTo>
                  <a:pt x="0" y="0"/>
                </a:lnTo>
                <a:close/>
              </a:path>
            </a:pathLst>
          </a:custGeom>
          <a:blipFill>
            <a:blip r:embed="rId4"/>
            <a:stretch>
              <a:fillRect l="0" t="-5847" r="0" b="-5847"/>
            </a:stretch>
          </a:blipFill>
        </p:spPr>
      </p:sp>
      <p:sp>
        <p:nvSpPr>
          <p:cNvPr name="TextBox 6" id="6"/>
          <p:cNvSpPr txBox="true"/>
          <p:nvPr/>
        </p:nvSpPr>
        <p:spPr>
          <a:xfrm rot="0">
            <a:off x="1912366" y="551288"/>
            <a:ext cx="13877604" cy="1274543"/>
          </a:xfrm>
          <a:prstGeom prst="rect">
            <a:avLst/>
          </a:prstGeom>
        </p:spPr>
        <p:txBody>
          <a:bodyPr anchor="t" rtlCol="false" tIns="0" lIns="0" bIns="0" rIns="0">
            <a:spAutoFit/>
          </a:bodyPr>
          <a:lstStyle/>
          <a:p>
            <a:pPr algn="ctr">
              <a:lnSpc>
                <a:spcPts val="10346"/>
              </a:lnSpc>
            </a:pPr>
            <a:r>
              <a:rPr lang="en-US" sz="7443" b="true">
                <a:solidFill>
                  <a:srgbClr val="048AFF"/>
                </a:solidFill>
                <a:latin typeface="Now Bold"/>
                <a:ea typeface="Now Bold"/>
                <a:cs typeface="Now Bold"/>
                <a:sym typeface="Now Bold"/>
              </a:rPr>
              <a:t>Versions</a:t>
            </a:r>
          </a:p>
        </p:txBody>
      </p:sp>
      <p:sp>
        <p:nvSpPr>
          <p:cNvPr name="TextBox 7" id="7"/>
          <p:cNvSpPr txBox="true"/>
          <p:nvPr/>
        </p:nvSpPr>
        <p:spPr>
          <a:xfrm rot="0">
            <a:off x="381444" y="7057519"/>
            <a:ext cx="5621896" cy="2494712"/>
          </a:xfrm>
          <a:prstGeom prst="rect">
            <a:avLst/>
          </a:prstGeom>
        </p:spPr>
        <p:txBody>
          <a:bodyPr anchor="t" rtlCol="false" tIns="0" lIns="0" bIns="0" rIns="0">
            <a:spAutoFit/>
          </a:bodyPr>
          <a:lstStyle/>
          <a:p>
            <a:pPr algn="ctr">
              <a:lnSpc>
                <a:spcPts val="4986"/>
              </a:lnSpc>
              <a:spcBef>
                <a:spcPct val="0"/>
              </a:spcBef>
            </a:pPr>
            <a:r>
              <a:rPr lang="en-US" b="true" sz="3587">
                <a:solidFill>
                  <a:srgbClr val="FFFFFF"/>
                </a:solidFill>
                <a:latin typeface="Now Bold"/>
                <a:ea typeface="Now Bold"/>
                <a:cs typeface="Now Bold"/>
                <a:sym typeface="Now Bold"/>
              </a:rPr>
              <a:t>Self-Service Visualization and Exploration</a:t>
            </a:r>
          </a:p>
          <a:p>
            <a:pPr algn="ctr">
              <a:lnSpc>
                <a:spcPts val="4986"/>
              </a:lnSpc>
              <a:spcBef>
                <a:spcPct val="0"/>
              </a:spcBef>
            </a:pPr>
          </a:p>
        </p:txBody>
      </p:sp>
      <p:sp>
        <p:nvSpPr>
          <p:cNvPr name="TextBox 8" id="8"/>
          <p:cNvSpPr txBox="true"/>
          <p:nvPr/>
        </p:nvSpPr>
        <p:spPr>
          <a:xfrm rot="0">
            <a:off x="6003340" y="7371844"/>
            <a:ext cx="5621896" cy="1866062"/>
          </a:xfrm>
          <a:prstGeom prst="rect">
            <a:avLst/>
          </a:prstGeom>
        </p:spPr>
        <p:txBody>
          <a:bodyPr anchor="t" rtlCol="false" tIns="0" lIns="0" bIns="0" rIns="0">
            <a:spAutoFit/>
          </a:bodyPr>
          <a:lstStyle/>
          <a:p>
            <a:pPr algn="ctr">
              <a:lnSpc>
                <a:spcPts val="4986"/>
              </a:lnSpc>
              <a:spcBef>
                <a:spcPct val="0"/>
              </a:spcBef>
            </a:pPr>
            <a:r>
              <a:rPr lang="en-US" b="true" sz="3587">
                <a:solidFill>
                  <a:srgbClr val="FFFFFF"/>
                </a:solidFill>
                <a:latin typeface="Now Bold"/>
                <a:ea typeface="Now Bold"/>
                <a:cs typeface="Now Bold"/>
                <a:sym typeface="Now Bold"/>
              </a:rPr>
              <a:t>Sharing of Knowledge and Insights</a:t>
            </a:r>
          </a:p>
          <a:p>
            <a:pPr algn="ctr">
              <a:lnSpc>
                <a:spcPts val="4986"/>
              </a:lnSpc>
              <a:spcBef>
                <a:spcPct val="0"/>
              </a:spcBef>
            </a:pPr>
          </a:p>
        </p:txBody>
      </p:sp>
      <p:sp>
        <p:nvSpPr>
          <p:cNvPr name="TextBox 9" id="9"/>
          <p:cNvSpPr txBox="true"/>
          <p:nvPr/>
        </p:nvSpPr>
        <p:spPr>
          <a:xfrm rot="0">
            <a:off x="11960479" y="7371844"/>
            <a:ext cx="5621896" cy="2494712"/>
          </a:xfrm>
          <a:prstGeom prst="rect">
            <a:avLst/>
          </a:prstGeom>
        </p:spPr>
        <p:txBody>
          <a:bodyPr anchor="t" rtlCol="false" tIns="0" lIns="0" bIns="0" rIns="0">
            <a:spAutoFit/>
          </a:bodyPr>
          <a:lstStyle/>
          <a:p>
            <a:pPr algn="ctr">
              <a:lnSpc>
                <a:spcPts val="4986"/>
              </a:lnSpc>
              <a:spcBef>
                <a:spcPct val="0"/>
              </a:spcBef>
            </a:pPr>
            <a:r>
              <a:rPr lang="en-US" b="true" sz="3587">
                <a:solidFill>
                  <a:srgbClr val="FFFFFF"/>
                </a:solidFill>
                <a:latin typeface="Now Bold"/>
                <a:ea typeface="Now Bold"/>
                <a:cs typeface="Now Bold"/>
                <a:sym typeface="Now Bold"/>
              </a:rPr>
              <a:t>AP</a:t>
            </a:r>
            <a:r>
              <a:rPr lang="en-US" b="true" sz="3587">
                <a:solidFill>
                  <a:srgbClr val="FFFFFF"/>
                </a:solidFill>
                <a:latin typeface="Now Bold"/>
                <a:ea typeface="Now Bold"/>
                <a:cs typeface="Now Bold"/>
                <a:sym typeface="Now Bold"/>
              </a:rPr>
              <a:t>latform for the Entire Enterprise</a:t>
            </a:r>
          </a:p>
          <a:p>
            <a:pPr algn="ctr">
              <a:lnSpc>
                <a:spcPts val="4986"/>
              </a:lnSpc>
              <a:spcBef>
                <a:spcPct val="0"/>
              </a:spcBef>
            </a:pPr>
          </a:p>
          <a:p>
            <a:pPr algn="ctr">
              <a:lnSpc>
                <a:spcPts val="4986"/>
              </a:lnSpc>
              <a:spcBef>
                <a:spcPct val="0"/>
              </a:spcBef>
            </a:pPr>
          </a:p>
        </p:txBody>
      </p:sp>
      <p:sp>
        <p:nvSpPr>
          <p:cNvPr name="TextBox 10" id="10"/>
          <p:cNvSpPr txBox="true"/>
          <p:nvPr/>
        </p:nvSpPr>
        <p:spPr>
          <a:xfrm rot="0">
            <a:off x="12761485" y="2544257"/>
            <a:ext cx="3246438" cy="608762"/>
          </a:xfrm>
          <a:prstGeom prst="rect">
            <a:avLst/>
          </a:prstGeom>
        </p:spPr>
        <p:txBody>
          <a:bodyPr anchor="t" rtlCol="false" tIns="0" lIns="0" bIns="0" rIns="0">
            <a:spAutoFit/>
          </a:bodyPr>
          <a:lstStyle/>
          <a:p>
            <a:pPr algn="ctr">
              <a:lnSpc>
                <a:spcPts val="4986"/>
              </a:lnSpc>
              <a:spcBef>
                <a:spcPct val="0"/>
              </a:spcBef>
            </a:pPr>
            <a:r>
              <a:rPr lang="en-US" b="true" sz="3587">
                <a:solidFill>
                  <a:srgbClr val="FFFFFF"/>
                </a:solidFill>
                <a:latin typeface="Now Bold"/>
                <a:ea typeface="Now Bold"/>
                <a:cs typeface="Now Bold"/>
                <a:sym typeface="Now Bold"/>
              </a:rPr>
              <a:t>Organizations</a:t>
            </a:r>
          </a:p>
        </p:txBody>
      </p:sp>
      <p:sp>
        <p:nvSpPr>
          <p:cNvPr name="TextBox 11" id="11"/>
          <p:cNvSpPr txBox="true"/>
          <p:nvPr/>
        </p:nvSpPr>
        <p:spPr>
          <a:xfrm rot="0">
            <a:off x="8321725" y="2544257"/>
            <a:ext cx="1644551" cy="608762"/>
          </a:xfrm>
          <a:prstGeom prst="rect">
            <a:avLst/>
          </a:prstGeom>
        </p:spPr>
        <p:txBody>
          <a:bodyPr anchor="t" rtlCol="false" tIns="0" lIns="0" bIns="0" rIns="0">
            <a:spAutoFit/>
          </a:bodyPr>
          <a:lstStyle/>
          <a:p>
            <a:pPr algn="ctr">
              <a:lnSpc>
                <a:spcPts val="4986"/>
              </a:lnSpc>
              <a:spcBef>
                <a:spcPct val="0"/>
              </a:spcBef>
            </a:pPr>
            <a:r>
              <a:rPr lang="en-US" b="true" sz="3587">
                <a:solidFill>
                  <a:srgbClr val="FFFFFF"/>
                </a:solidFill>
                <a:latin typeface="Now Bold"/>
                <a:ea typeface="Now Bold"/>
                <a:cs typeface="Now Bold"/>
                <a:sym typeface="Now Bold"/>
              </a:rPr>
              <a:t>Groups</a:t>
            </a:r>
          </a:p>
        </p:txBody>
      </p:sp>
      <p:sp>
        <p:nvSpPr>
          <p:cNvPr name="TextBox 12" id="12"/>
          <p:cNvSpPr txBox="true"/>
          <p:nvPr/>
        </p:nvSpPr>
        <p:spPr>
          <a:xfrm rot="0">
            <a:off x="2099498" y="2544257"/>
            <a:ext cx="2481064" cy="608762"/>
          </a:xfrm>
          <a:prstGeom prst="rect">
            <a:avLst/>
          </a:prstGeom>
        </p:spPr>
        <p:txBody>
          <a:bodyPr anchor="t" rtlCol="false" tIns="0" lIns="0" bIns="0" rIns="0">
            <a:spAutoFit/>
          </a:bodyPr>
          <a:lstStyle/>
          <a:p>
            <a:pPr algn="ctr">
              <a:lnSpc>
                <a:spcPts val="4986"/>
              </a:lnSpc>
              <a:spcBef>
                <a:spcPct val="0"/>
              </a:spcBef>
            </a:pPr>
            <a:r>
              <a:rPr lang="en-US" b="true" sz="3587">
                <a:solidFill>
                  <a:srgbClr val="FFFFFF"/>
                </a:solidFill>
                <a:latin typeface="Now Bold"/>
                <a:ea typeface="Now Bold"/>
                <a:cs typeface="Now Bold"/>
                <a:sym typeface="Now Bold"/>
              </a:rPr>
              <a:t>Individuals</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3"/>
            <a:stretch>
              <a:fillRect l="0" t="-38888" r="0" b="-38888"/>
            </a:stretch>
          </a:blipFill>
        </p:spPr>
      </p:sp>
      <p:sp>
        <p:nvSpPr>
          <p:cNvPr name="Freeform 3" id="3"/>
          <p:cNvSpPr/>
          <p:nvPr/>
        </p:nvSpPr>
        <p:spPr>
          <a:xfrm flipH="false" flipV="false" rot="0">
            <a:off x="12438410" y="-5076387"/>
            <a:ext cx="9641780" cy="9629727"/>
          </a:xfrm>
          <a:custGeom>
            <a:avLst/>
            <a:gdLst/>
            <a:ahLst/>
            <a:cxnLst/>
            <a:rect r="r" b="b" t="t" l="l"/>
            <a:pathLst>
              <a:path h="9629727" w="9641780">
                <a:moveTo>
                  <a:pt x="0" y="0"/>
                </a:moveTo>
                <a:lnTo>
                  <a:pt x="9641780" y="0"/>
                </a:lnTo>
                <a:lnTo>
                  <a:pt x="9641780" y="9629728"/>
                </a:lnTo>
                <a:lnTo>
                  <a:pt x="0" y="9629728"/>
                </a:lnTo>
                <a:lnTo>
                  <a:pt x="0" y="0"/>
                </a:lnTo>
                <a:close/>
              </a:path>
            </a:pathLst>
          </a:custGeom>
          <a:blipFill>
            <a:blip r:embed="rId4"/>
            <a:stretch>
              <a:fillRect l="0" t="0" r="0" b="0"/>
            </a:stretch>
          </a:blipFill>
        </p:spPr>
      </p:sp>
      <p:sp>
        <p:nvSpPr>
          <p:cNvPr name="Freeform 4" id="4"/>
          <p:cNvSpPr/>
          <p:nvPr/>
        </p:nvSpPr>
        <p:spPr>
          <a:xfrm flipH="false" flipV="false" rot="0">
            <a:off x="-6493879" y="7600612"/>
            <a:ext cx="9641780" cy="9629727"/>
          </a:xfrm>
          <a:custGeom>
            <a:avLst/>
            <a:gdLst/>
            <a:ahLst/>
            <a:cxnLst/>
            <a:rect r="r" b="b" t="t" l="l"/>
            <a:pathLst>
              <a:path h="9629727" w="9641780">
                <a:moveTo>
                  <a:pt x="0" y="0"/>
                </a:moveTo>
                <a:lnTo>
                  <a:pt x="9641779" y="0"/>
                </a:lnTo>
                <a:lnTo>
                  <a:pt x="9641779" y="9629728"/>
                </a:lnTo>
                <a:lnTo>
                  <a:pt x="0" y="9629728"/>
                </a:lnTo>
                <a:lnTo>
                  <a:pt x="0" y="0"/>
                </a:lnTo>
                <a:close/>
              </a:path>
            </a:pathLst>
          </a:custGeom>
          <a:blipFill>
            <a:blip r:embed="rId4"/>
            <a:stretch>
              <a:fillRect l="0" t="0" r="0" b="0"/>
            </a:stretch>
          </a:blipFill>
        </p:spPr>
      </p:sp>
      <p:sp>
        <p:nvSpPr>
          <p:cNvPr name="Freeform 5" id="5"/>
          <p:cNvSpPr/>
          <p:nvPr/>
        </p:nvSpPr>
        <p:spPr>
          <a:xfrm flipH="false" flipV="false" rot="0">
            <a:off x="1335866" y="2597758"/>
            <a:ext cx="15616268" cy="7085881"/>
          </a:xfrm>
          <a:custGeom>
            <a:avLst/>
            <a:gdLst/>
            <a:ahLst/>
            <a:cxnLst/>
            <a:rect r="r" b="b" t="t" l="l"/>
            <a:pathLst>
              <a:path h="7085881" w="15616268">
                <a:moveTo>
                  <a:pt x="0" y="0"/>
                </a:moveTo>
                <a:lnTo>
                  <a:pt x="15616268" y="0"/>
                </a:lnTo>
                <a:lnTo>
                  <a:pt x="15616268" y="7085882"/>
                </a:lnTo>
                <a:lnTo>
                  <a:pt x="0" y="7085882"/>
                </a:lnTo>
                <a:lnTo>
                  <a:pt x="0" y="0"/>
                </a:lnTo>
                <a:close/>
              </a:path>
            </a:pathLst>
          </a:custGeom>
          <a:blipFill>
            <a:blip r:embed="rId5"/>
            <a:stretch>
              <a:fillRect l="0" t="0" r="0" b="0"/>
            </a:stretch>
          </a:blipFill>
        </p:spPr>
      </p:sp>
      <p:sp>
        <p:nvSpPr>
          <p:cNvPr name="Freeform 6" id="6"/>
          <p:cNvSpPr/>
          <p:nvPr/>
        </p:nvSpPr>
        <p:spPr>
          <a:xfrm flipH="false" flipV="false" rot="0">
            <a:off x="2359631" y="4171525"/>
            <a:ext cx="13568738" cy="2510217"/>
          </a:xfrm>
          <a:custGeom>
            <a:avLst/>
            <a:gdLst/>
            <a:ahLst/>
            <a:cxnLst/>
            <a:rect r="r" b="b" t="t" l="l"/>
            <a:pathLst>
              <a:path h="2510217" w="13568738">
                <a:moveTo>
                  <a:pt x="0" y="0"/>
                </a:moveTo>
                <a:lnTo>
                  <a:pt x="13568738" y="0"/>
                </a:lnTo>
                <a:lnTo>
                  <a:pt x="13568738" y="2510216"/>
                </a:lnTo>
                <a:lnTo>
                  <a:pt x="0" y="2510216"/>
                </a:lnTo>
                <a:lnTo>
                  <a:pt x="0" y="0"/>
                </a:lnTo>
                <a:close/>
              </a:path>
            </a:pathLst>
          </a:custGeom>
          <a:blipFill>
            <a:blip r:embed="rId6"/>
            <a:stretch>
              <a:fillRect l="0" t="0" r="0" b="0"/>
            </a:stretch>
          </a:blipFill>
        </p:spPr>
      </p:sp>
      <p:sp>
        <p:nvSpPr>
          <p:cNvPr name="TextBox 7" id="7"/>
          <p:cNvSpPr txBox="true"/>
          <p:nvPr/>
        </p:nvSpPr>
        <p:spPr>
          <a:xfrm rot="0">
            <a:off x="520495" y="471907"/>
            <a:ext cx="13877604" cy="3047747"/>
          </a:xfrm>
          <a:prstGeom prst="rect">
            <a:avLst/>
          </a:prstGeom>
        </p:spPr>
        <p:txBody>
          <a:bodyPr anchor="t" rtlCol="false" tIns="0" lIns="0" bIns="0" rIns="0">
            <a:spAutoFit/>
          </a:bodyPr>
          <a:lstStyle/>
          <a:p>
            <a:pPr algn="ctr">
              <a:lnSpc>
                <a:spcPts val="8061"/>
              </a:lnSpc>
            </a:pPr>
            <a:r>
              <a:rPr lang="en-US" sz="5799" b="true">
                <a:solidFill>
                  <a:srgbClr val="048AFF"/>
                </a:solidFill>
                <a:latin typeface="Now Bold"/>
                <a:ea typeface="Now Bold"/>
                <a:cs typeface="Now Bold"/>
                <a:sym typeface="Now Bold"/>
              </a:rPr>
              <a:t>For individuals of all skill </a:t>
            </a:r>
          </a:p>
          <a:p>
            <a:pPr algn="ctr">
              <a:lnSpc>
                <a:spcPts val="8061"/>
              </a:lnSpc>
            </a:pPr>
            <a:r>
              <a:rPr lang="en-US" sz="5799" b="true">
                <a:solidFill>
                  <a:srgbClr val="048AFF"/>
                </a:solidFill>
                <a:latin typeface="Now Bold"/>
                <a:ea typeface="Now Bold"/>
                <a:cs typeface="Now Bold"/>
                <a:sym typeface="Now Bold"/>
              </a:rPr>
              <a:t>levels</a:t>
            </a:r>
          </a:p>
          <a:p>
            <a:pPr algn="ctr">
              <a:lnSpc>
                <a:spcPts val="8061"/>
              </a:lnSpc>
            </a:pP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8AFF"/>
                </a:solidFill>
                <a:latin typeface="Canva Sans"/>
                <a:ea typeface="Canva Sans"/>
                <a:cs typeface="Canva Sans"/>
                <a:sym typeface="Canva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3"/>
            <a:stretch>
              <a:fillRect l="0" t="-38888" r="0" b="-38888"/>
            </a:stretch>
          </a:blipFill>
        </p:spPr>
      </p:sp>
      <p:sp>
        <p:nvSpPr>
          <p:cNvPr name="Freeform 3" id="3"/>
          <p:cNvSpPr/>
          <p:nvPr/>
        </p:nvSpPr>
        <p:spPr>
          <a:xfrm flipH="false" flipV="false" rot="0">
            <a:off x="14398099" y="-4814864"/>
            <a:ext cx="9641780" cy="9629727"/>
          </a:xfrm>
          <a:custGeom>
            <a:avLst/>
            <a:gdLst/>
            <a:ahLst/>
            <a:cxnLst/>
            <a:rect r="r" b="b" t="t" l="l"/>
            <a:pathLst>
              <a:path h="9629727" w="9641780">
                <a:moveTo>
                  <a:pt x="0" y="0"/>
                </a:moveTo>
                <a:lnTo>
                  <a:pt x="9641780" y="0"/>
                </a:lnTo>
                <a:lnTo>
                  <a:pt x="9641780" y="9629728"/>
                </a:lnTo>
                <a:lnTo>
                  <a:pt x="0" y="9629728"/>
                </a:lnTo>
                <a:lnTo>
                  <a:pt x="0" y="0"/>
                </a:lnTo>
                <a:close/>
              </a:path>
            </a:pathLst>
          </a:custGeom>
          <a:blipFill>
            <a:blip r:embed="rId4"/>
            <a:stretch>
              <a:fillRect l="0" t="0" r="0" b="0"/>
            </a:stretch>
          </a:blipFill>
        </p:spPr>
      </p:sp>
      <p:sp>
        <p:nvSpPr>
          <p:cNvPr name="Freeform 4" id="4"/>
          <p:cNvSpPr/>
          <p:nvPr/>
        </p:nvSpPr>
        <p:spPr>
          <a:xfrm flipH="false" flipV="false" rot="0">
            <a:off x="-6493879" y="7600612"/>
            <a:ext cx="9641780" cy="9629727"/>
          </a:xfrm>
          <a:custGeom>
            <a:avLst/>
            <a:gdLst/>
            <a:ahLst/>
            <a:cxnLst/>
            <a:rect r="r" b="b" t="t" l="l"/>
            <a:pathLst>
              <a:path h="9629727" w="9641780">
                <a:moveTo>
                  <a:pt x="0" y="0"/>
                </a:moveTo>
                <a:lnTo>
                  <a:pt x="9641779" y="0"/>
                </a:lnTo>
                <a:lnTo>
                  <a:pt x="9641779" y="9629728"/>
                </a:lnTo>
                <a:lnTo>
                  <a:pt x="0" y="9629728"/>
                </a:lnTo>
                <a:lnTo>
                  <a:pt x="0" y="0"/>
                </a:lnTo>
                <a:close/>
              </a:path>
            </a:pathLst>
          </a:custGeom>
          <a:blipFill>
            <a:blip r:embed="rId4"/>
            <a:stretch>
              <a:fillRect l="0" t="0" r="0" b="0"/>
            </a:stretch>
          </a:blipFill>
        </p:spPr>
      </p:sp>
      <p:sp>
        <p:nvSpPr>
          <p:cNvPr name="Freeform 5" id="5"/>
          <p:cNvSpPr/>
          <p:nvPr/>
        </p:nvSpPr>
        <p:spPr>
          <a:xfrm flipH="false" flipV="false" rot="0">
            <a:off x="1614104" y="2886414"/>
            <a:ext cx="15059792" cy="6833381"/>
          </a:xfrm>
          <a:custGeom>
            <a:avLst/>
            <a:gdLst/>
            <a:ahLst/>
            <a:cxnLst/>
            <a:rect r="r" b="b" t="t" l="l"/>
            <a:pathLst>
              <a:path h="6833381" w="15059792">
                <a:moveTo>
                  <a:pt x="0" y="0"/>
                </a:moveTo>
                <a:lnTo>
                  <a:pt x="15059792" y="0"/>
                </a:lnTo>
                <a:lnTo>
                  <a:pt x="15059792" y="6833380"/>
                </a:lnTo>
                <a:lnTo>
                  <a:pt x="0" y="6833380"/>
                </a:lnTo>
                <a:lnTo>
                  <a:pt x="0" y="0"/>
                </a:lnTo>
                <a:close/>
              </a:path>
            </a:pathLst>
          </a:custGeom>
          <a:blipFill>
            <a:blip r:embed="rId5"/>
            <a:stretch>
              <a:fillRect l="0" t="0" r="0" b="0"/>
            </a:stretch>
          </a:blipFill>
        </p:spPr>
      </p:sp>
      <p:sp>
        <p:nvSpPr>
          <p:cNvPr name="TextBox 6" id="6"/>
          <p:cNvSpPr txBox="true"/>
          <p:nvPr/>
        </p:nvSpPr>
        <p:spPr>
          <a:xfrm rot="0">
            <a:off x="520495" y="471907"/>
            <a:ext cx="13877604" cy="996696"/>
          </a:xfrm>
          <a:prstGeom prst="rect">
            <a:avLst/>
          </a:prstGeom>
        </p:spPr>
        <p:txBody>
          <a:bodyPr anchor="t" rtlCol="false" tIns="0" lIns="0" bIns="0" rIns="0">
            <a:spAutoFit/>
          </a:bodyPr>
          <a:lstStyle/>
          <a:p>
            <a:pPr algn="ctr">
              <a:lnSpc>
                <a:spcPts val="8061"/>
              </a:lnSpc>
            </a:pPr>
            <a:r>
              <a:rPr lang="en-US" sz="5799" b="true">
                <a:solidFill>
                  <a:srgbClr val="048AFF"/>
                </a:solidFill>
                <a:latin typeface="Now Bold"/>
                <a:ea typeface="Now Bold"/>
                <a:cs typeface="Now Bold"/>
                <a:sym typeface="Now Bold"/>
              </a:rPr>
              <a:t>Sharing of Knowledge and Insights</a:t>
            </a:r>
          </a:p>
        </p:txBody>
      </p:sp>
      <p:sp>
        <p:nvSpPr>
          <p:cNvPr name="TextBox 7" id="7"/>
          <p:cNvSpPr txBox="true"/>
          <p:nvPr/>
        </p:nvSpPr>
        <p:spPr>
          <a:xfrm rot="0">
            <a:off x="3147900" y="1658256"/>
            <a:ext cx="7503616" cy="932883"/>
          </a:xfrm>
          <a:prstGeom prst="rect">
            <a:avLst/>
          </a:prstGeom>
        </p:spPr>
        <p:txBody>
          <a:bodyPr anchor="t" rtlCol="false" tIns="0" lIns="0" bIns="0" rIns="0">
            <a:spAutoFit/>
          </a:bodyPr>
          <a:lstStyle/>
          <a:p>
            <a:pPr algn="ctr">
              <a:lnSpc>
                <a:spcPts val="7531"/>
              </a:lnSpc>
              <a:spcBef>
                <a:spcPct val="0"/>
              </a:spcBef>
            </a:pPr>
            <a:r>
              <a:rPr lang="en-US" b="true" sz="5418">
                <a:solidFill>
                  <a:srgbClr val="048AFF"/>
                </a:solidFill>
                <a:latin typeface="Now Bold"/>
                <a:ea typeface="Now Bold"/>
                <a:cs typeface="Now Bold"/>
                <a:sym typeface="Now Bold"/>
              </a:rPr>
              <a:t>For groups and teams</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8AFF"/>
                </a:solidFill>
                <a:latin typeface="Canva Sans"/>
                <a:ea typeface="Canva Sans"/>
                <a:cs typeface="Canva Sans"/>
                <a:sym typeface="Canva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3"/>
            <a:stretch>
              <a:fillRect l="0" t="-38888" r="0" b="-38888"/>
            </a:stretch>
          </a:blipFill>
        </p:spPr>
      </p:sp>
      <p:sp>
        <p:nvSpPr>
          <p:cNvPr name="Freeform 3" id="3"/>
          <p:cNvSpPr/>
          <p:nvPr/>
        </p:nvSpPr>
        <p:spPr>
          <a:xfrm flipH="false" flipV="false" rot="0">
            <a:off x="14398099" y="-4814864"/>
            <a:ext cx="9641780" cy="9629727"/>
          </a:xfrm>
          <a:custGeom>
            <a:avLst/>
            <a:gdLst/>
            <a:ahLst/>
            <a:cxnLst/>
            <a:rect r="r" b="b" t="t" l="l"/>
            <a:pathLst>
              <a:path h="9629727" w="9641780">
                <a:moveTo>
                  <a:pt x="0" y="0"/>
                </a:moveTo>
                <a:lnTo>
                  <a:pt x="9641780" y="0"/>
                </a:lnTo>
                <a:lnTo>
                  <a:pt x="9641780" y="9629728"/>
                </a:lnTo>
                <a:lnTo>
                  <a:pt x="0" y="9629728"/>
                </a:lnTo>
                <a:lnTo>
                  <a:pt x="0" y="0"/>
                </a:lnTo>
                <a:close/>
              </a:path>
            </a:pathLst>
          </a:custGeom>
          <a:blipFill>
            <a:blip r:embed="rId4"/>
            <a:stretch>
              <a:fillRect l="0" t="0" r="0" b="0"/>
            </a:stretch>
          </a:blipFill>
        </p:spPr>
      </p:sp>
      <p:sp>
        <p:nvSpPr>
          <p:cNvPr name="Freeform 4" id="4"/>
          <p:cNvSpPr/>
          <p:nvPr/>
        </p:nvSpPr>
        <p:spPr>
          <a:xfrm flipH="false" flipV="false" rot="0">
            <a:off x="-6493879" y="7600612"/>
            <a:ext cx="9641780" cy="9629727"/>
          </a:xfrm>
          <a:custGeom>
            <a:avLst/>
            <a:gdLst/>
            <a:ahLst/>
            <a:cxnLst/>
            <a:rect r="r" b="b" t="t" l="l"/>
            <a:pathLst>
              <a:path h="9629727" w="9641780">
                <a:moveTo>
                  <a:pt x="0" y="0"/>
                </a:moveTo>
                <a:lnTo>
                  <a:pt x="9641779" y="0"/>
                </a:lnTo>
                <a:lnTo>
                  <a:pt x="9641779" y="9629728"/>
                </a:lnTo>
                <a:lnTo>
                  <a:pt x="0" y="9629728"/>
                </a:lnTo>
                <a:lnTo>
                  <a:pt x="0" y="0"/>
                </a:lnTo>
                <a:close/>
              </a:path>
            </a:pathLst>
          </a:custGeom>
          <a:blipFill>
            <a:blip r:embed="rId4"/>
            <a:stretch>
              <a:fillRect l="0" t="0" r="0" b="0"/>
            </a:stretch>
          </a:blipFill>
        </p:spPr>
      </p:sp>
      <p:sp>
        <p:nvSpPr>
          <p:cNvPr name="Freeform 5" id="5"/>
          <p:cNvSpPr/>
          <p:nvPr/>
        </p:nvSpPr>
        <p:spPr>
          <a:xfrm flipH="false" flipV="false" rot="0">
            <a:off x="1496180" y="2931972"/>
            <a:ext cx="14719059" cy="6678773"/>
          </a:xfrm>
          <a:custGeom>
            <a:avLst/>
            <a:gdLst/>
            <a:ahLst/>
            <a:cxnLst/>
            <a:rect r="r" b="b" t="t" l="l"/>
            <a:pathLst>
              <a:path h="6678773" w="14719059">
                <a:moveTo>
                  <a:pt x="0" y="0"/>
                </a:moveTo>
                <a:lnTo>
                  <a:pt x="14719059" y="0"/>
                </a:lnTo>
                <a:lnTo>
                  <a:pt x="14719059" y="6678773"/>
                </a:lnTo>
                <a:lnTo>
                  <a:pt x="0" y="6678773"/>
                </a:lnTo>
                <a:lnTo>
                  <a:pt x="0" y="0"/>
                </a:lnTo>
                <a:close/>
              </a:path>
            </a:pathLst>
          </a:custGeom>
          <a:blipFill>
            <a:blip r:embed="rId5"/>
            <a:stretch>
              <a:fillRect l="0" t="0" r="0" b="0"/>
            </a:stretch>
          </a:blipFill>
        </p:spPr>
      </p:sp>
      <p:sp>
        <p:nvSpPr>
          <p:cNvPr name="TextBox 6" id="6"/>
          <p:cNvSpPr txBox="true"/>
          <p:nvPr/>
        </p:nvSpPr>
        <p:spPr>
          <a:xfrm rot="0">
            <a:off x="520495" y="471907"/>
            <a:ext cx="13877604" cy="996696"/>
          </a:xfrm>
          <a:prstGeom prst="rect">
            <a:avLst/>
          </a:prstGeom>
        </p:spPr>
        <p:txBody>
          <a:bodyPr anchor="t" rtlCol="false" tIns="0" lIns="0" bIns="0" rIns="0">
            <a:spAutoFit/>
          </a:bodyPr>
          <a:lstStyle/>
          <a:p>
            <a:pPr algn="ctr">
              <a:lnSpc>
                <a:spcPts val="8061"/>
              </a:lnSpc>
            </a:pPr>
            <a:r>
              <a:rPr lang="en-US" sz="5799" b="true">
                <a:solidFill>
                  <a:srgbClr val="048AFF"/>
                </a:solidFill>
                <a:latin typeface="Now Bold"/>
                <a:ea typeface="Now Bold"/>
                <a:cs typeface="Now Bold"/>
                <a:sym typeface="Now Bold"/>
              </a:rPr>
              <a:t>A Platform for the Entire Enterprise</a:t>
            </a:r>
          </a:p>
        </p:txBody>
      </p:sp>
      <p:sp>
        <p:nvSpPr>
          <p:cNvPr name="TextBox 7" id="7"/>
          <p:cNvSpPr txBox="true"/>
          <p:nvPr/>
        </p:nvSpPr>
        <p:spPr>
          <a:xfrm rot="0">
            <a:off x="3163379" y="1658256"/>
            <a:ext cx="7472660" cy="1885383"/>
          </a:xfrm>
          <a:prstGeom prst="rect">
            <a:avLst/>
          </a:prstGeom>
        </p:spPr>
        <p:txBody>
          <a:bodyPr anchor="t" rtlCol="false" tIns="0" lIns="0" bIns="0" rIns="0">
            <a:spAutoFit/>
          </a:bodyPr>
          <a:lstStyle/>
          <a:p>
            <a:pPr algn="ctr">
              <a:lnSpc>
                <a:spcPts val="7531"/>
              </a:lnSpc>
              <a:spcBef>
                <a:spcPct val="0"/>
              </a:spcBef>
            </a:pPr>
            <a:r>
              <a:rPr lang="en-US" b="true" sz="5418">
                <a:solidFill>
                  <a:srgbClr val="048AFF"/>
                </a:solidFill>
                <a:latin typeface="Now Bold"/>
                <a:ea typeface="Now Bold"/>
                <a:cs typeface="Now Bold"/>
                <a:sym typeface="Now Bold"/>
              </a:rPr>
              <a:t>For your organization</a:t>
            </a:r>
          </a:p>
          <a:p>
            <a:pPr algn="ctr">
              <a:lnSpc>
                <a:spcPts val="7531"/>
              </a:lnSpc>
              <a:spcBef>
                <a:spcPct val="0"/>
              </a:spcBef>
            </a:pP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8AFF"/>
                </a:solidFill>
                <a:latin typeface="Canva Sans"/>
                <a:ea typeface="Canva Sans"/>
                <a:cs typeface="Canva Sans"/>
                <a:sym typeface="Canva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5789970" y="8293980"/>
            <a:ext cx="1469330" cy="1421243"/>
          </a:xfrm>
          <a:custGeom>
            <a:avLst/>
            <a:gdLst/>
            <a:ahLst/>
            <a:cxnLst/>
            <a:rect r="r" b="b" t="t" l="l"/>
            <a:pathLst>
              <a:path h="1421243" w="1469330">
                <a:moveTo>
                  <a:pt x="0" y="0"/>
                </a:moveTo>
                <a:lnTo>
                  <a:pt x="1469330" y="0"/>
                </a:lnTo>
                <a:lnTo>
                  <a:pt x="1469330" y="1421244"/>
                </a:lnTo>
                <a:lnTo>
                  <a:pt x="0" y="14212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21707" y="4372366"/>
            <a:ext cx="18731413" cy="1708454"/>
          </a:xfrm>
          <a:prstGeom prst="rect">
            <a:avLst/>
          </a:prstGeom>
        </p:spPr>
        <p:txBody>
          <a:bodyPr anchor="t" rtlCol="false" tIns="0" lIns="0" bIns="0" rIns="0">
            <a:spAutoFit/>
          </a:bodyPr>
          <a:lstStyle/>
          <a:p>
            <a:pPr algn="ctr">
              <a:lnSpc>
                <a:spcPts val="13964"/>
              </a:lnSpc>
            </a:pPr>
            <a:r>
              <a:rPr lang="en-US" sz="10046" b="true">
                <a:solidFill>
                  <a:srgbClr val="048AFF"/>
                </a:solidFill>
                <a:latin typeface="Now Bold"/>
                <a:ea typeface="Now Bold"/>
                <a:cs typeface="Now Bold"/>
                <a:sym typeface="Now Bold"/>
              </a:rPr>
              <a:t>Workshop</a:t>
            </a:r>
          </a:p>
        </p:txBody>
      </p:sp>
      <p:sp>
        <p:nvSpPr>
          <p:cNvPr name="Freeform 4" id="4"/>
          <p:cNvSpPr/>
          <p:nvPr/>
        </p:nvSpPr>
        <p:spPr>
          <a:xfrm flipH="false" flipV="false" rot="0">
            <a:off x="12438410" y="-5076387"/>
            <a:ext cx="9641780" cy="9629727"/>
          </a:xfrm>
          <a:custGeom>
            <a:avLst/>
            <a:gdLst/>
            <a:ahLst/>
            <a:cxnLst/>
            <a:rect r="r" b="b" t="t" l="l"/>
            <a:pathLst>
              <a:path h="9629727" w="9641780">
                <a:moveTo>
                  <a:pt x="0" y="0"/>
                </a:moveTo>
                <a:lnTo>
                  <a:pt x="9641780" y="0"/>
                </a:lnTo>
                <a:lnTo>
                  <a:pt x="9641780" y="9629728"/>
                </a:lnTo>
                <a:lnTo>
                  <a:pt x="0" y="9629728"/>
                </a:lnTo>
                <a:lnTo>
                  <a:pt x="0" y="0"/>
                </a:lnTo>
                <a:close/>
              </a:path>
            </a:pathLst>
          </a:custGeom>
          <a:blipFill>
            <a:blip r:embed="rId4"/>
            <a:stretch>
              <a:fillRect l="0" t="0" r="0" b="0"/>
            </a:stretch>
          </a:blipFill>
        </p:spPr>
      </p:sp>
      <p:sp>
        <p:nvSpPr>
          <p:cNvPr name="Freeform 5" id="5"/>
          <p:cNvSpPr/>
          <p:nvPr/>
        </p:nvSpPr>
        <p:spPr>
          <a:xfrm flipH="false" flipV="false" rot="0">
            <a:off x="-4327715" y="6542790"/>
            <a:ext cx="9641780" cy="9629727"/>
          </a:xfrm>
          <a:custGeom>
            <a:avLst/>
            <a:gdLst/>
            <a:ahLst/>
            <a:cxnLst/>
            <a:rect r="r" b="b" t="t" l="l"/>
            <a:pathLst>
              <a:path h="9629727" w="9641780">
                <a:moveTo>
                  <a:pt x="0" y="0"/>
                </a:moveTo>
                <a:lnTo>
                  <a:pt x="9641780" y="0"/>
                </a:lnTo>
                <a:lnTo>
                  <a:pt x="9641780" y="9629727"/>
                </a:lnTo>
                <a:lnTo>
                  <a:pt x="0" y="9629727"/>
                </a:lnTo>
                <a:lnTo>
                  <a:pt x="0" y="0"/>
                </a:lnTo>
                <a:close/>
              </a:path>
            </a:pathLst>
          </a:custGeom>
          <a:blipFill>
            <a:blip r:embed="rId4"/>
            <a:stretch>
              <a:fillRect l="0" t="0" r="0" b="0"/>
            </a:stretch>
          </a:blipFill>
        </p:spPr>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8AFF"/>
                </a:solidFill>
                <a:latin typeface="Canva Sans"/>
                <a:ea typeface="Canva Sans"/>
                <a:cs typeface="Canva Sans"/>
                <a:sym typeface="Canva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689719" y="-1276542"/>
            <a:ext cx="2556280" cy="2553085"/>
          </a:xfrm>
          <a:custGeom>
            <a:avLst/>
            <a:gdLst/>
            <a:ahLst/>
            <a:cxnLst/>
            <a:rect r="r" b="b" t="t" l="l"/>
            <a:pathLst>
              <a:path h="2553085" w="2556280">
                <a:moveTo>
                  <a:pt x="0" y="0"/>
                </a:moveTo>
                <a:lnTo>
                  <a:pt x="2556280" y="0"/>
                </a:lnTo>
                <a:lnTo>
                  <a:pt x="2556280" y="2553084"/>
                </a:lnTo>
                <a:lnTo>
                  <a:pt x="0" y="2553084"/>
                </a:lnTo>
                <a:lnTo>
                  <a:pt x="0" y="0"/>
                </a:lnTo>
                <a:close/>
              </a:path>
            </a:pathLst>
          </a:custGeom>
          <a:blipFill>
            <a:blip r:embed="rId3"/>
            <a:stretch>
              <a:fillRect l="0" t="0" r="0" b="0"/>
            </a:stretch>
          </a:blipFill>
        </p:spPr>
      </p:sp>
      <p:sp>
        <p:nvSpPr>
          <p:cNvPr name="Freeform 4" id="4"/>
          <p:cNvSpPr/>
          <p:nvPr/>
        </p:nvSpPr>
        <p:spPr>
          <a:xfrm flipH="false" flipV="false" rot="0">
            <a:off x="7584476" y="8616204"/>
            <a:ext cx="4010261" cy="4005248"/>
          </a:xfrm>
          <a:custGeom>
            <a:avLst/>
            <a:gdLst/>
            <a:ahLst/>
            <a:cxnLst/>
            <a:rect r="r" b="b" t="t" l="l"/>
            <a:pathLst>
              <a:path h="4005248" w="4010261">
                <a:moveTo>
                  <a:pt x="0" y="0"/>
                </a:moveTo>
                <a:lnTo>
                  <a:pt x="4010261" y="0"/>
                </a:lnTo>
                <a:lnTo>
                  <a:pt x="4010261" y="4005248"/>
                </a:lnTo>
                <a:lnTo>
                  <a:pt x="0" y="4005248"/>
                </a:lnTo>
                <a:lnTo>
                  <a:pt x="0" y="0"/>
                </a:lnTo>
                <a:close/>
              </a:path>
            </a:pathLst>
          </a:custGeom>
          <a:blipFill>
            <a:blip r:embed="rId3"/>
            <a:stretch>
              <a:fillRect l="0" t="0" r="0" b="0"/>
            </a:stretch>
          </a:blipFill>
        </p:spPr>
      </p:sp>
      <p:sp>
        <p:nvSpPr>
          <p:cNvPr name="Freeform 5" id="5"/>
          <p:cNvSpPr/>
          <p:nvPr/>
        </p:nvSpPr>
        <p:spPr>
          <a:xfrm flipH="false" flipV="false" rot="0">
            <a:off x="-855821" y="769658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alphaModFix amt="67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792965" y="-4982246"/>
            <a:ext cx="8083465" cy="8073361"/>
          </a:xfrm>
          <a:custGeom>
            <a:avLst/>
            <a:gdLst/>
            <a:ahLst/>
            <a:cxnLst/>
            <a:rect r="r" b="b" t="t" l="l"/>
            <a:pathLst>
              <a:path h="8073361" w="8083465">
                <a:moveTo>
                  <a:pt x="0" y="0"/>
                </a:moveTo>
                <a:lnTo>
                  <a:pt x="8083465" y="0"/>
                </a:lnTo>
                <a:lnTo>
                  <a:pt x="8083465" y="8073361"/>
                </a:lnTo>
                <a:lnTo>
                  <a:pt x="0" y="8073361"/>
                </a:lnTo>
                <a:lnTo>
                  <a:pt x="0" y="0"/>
                </a:lnTo>
                <a:close/>
              </a:path>
            </a:pathLst>
          </a:custGeom>
          <a:blipFill>
            <a:blip r:embed="rId3"/>
            <a:stretch>
              <a:fillRect l="0" t="0" r="0" b="0"/>
            </a:stretch>
          </a:blipFill>
        </p:spPr>
      </p:sp>
      <p:sp>
        <p:nvSpPr>
          <p:cNvPr name="TextBox 7" id="7"/>
          <p:cNvSpPr txBox="true"/>
          <p:nvPr/>
        </p:nvSpPr>
        <p:spPr>
          <a:xfrm rot="0">
            <a:off x="4474946" y="3757221"/>
            <a:ext cx="9728176" cy="2496333"/>
          </a:xfrm>
          <a:prstGeom prst="rect">
            <a:avLst/>
          </a:prstGeom>
        </p:spPr>
        <p:txBody>
          <a:bodyPr anchor="t" rtlCol="false" tIns="0" lIns="0" bIns="0" rIns="0">
            <a:spAutoFit/>
          </a:bodyPr>
          <a:lstStyle/>
          <a:p>
            <a:pPr algn="l">
              <a:lnSpc>
                <a:spcPts val="20222"/>
              </a:lnSpc>
            </a:pPr>
            <a:r>
              <a:rPr lang="en-US" sz="14548" b="true">
                <a:solidFill>
                  <a:srgbClr val="048AFF"/>
                </a:solidFill>
                <a:latin typeface="Now Bold"/>
                <a:ea typeface="Now Bold"/>
                <a:cs typeface="Now Bold"/>
                <a:sym typeface="Now Bold"/>
              </a:rPr>
              <a:t>Thank you</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48AFF"/>
                </a:solidFill>
                <a:latin typeface="Canva Sans"/>
                <a:ea typeface="Canva Sans"/>
                <a:cs typeface="Canva Sans"/>
                <a:sym typeface="Canva Sans"/>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DAGZAWBxuxE</dc:identifier>
  <dcterms:modified xsi:type="dcterms:W3CDTF">2011-08-01T06:04:30Z</dcterms:modified>
  <cp:revision>1</cp:revision>
  <dc:title>CASSANDRA</dc:title>
</cp:coreProperties>
</file>